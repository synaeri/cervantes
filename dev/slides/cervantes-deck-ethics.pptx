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6" r:id="rId21"/>
    <p:sldId id="267" r:id="rId22"/>
    <p:sldId id="268" r:id="rId23"/>
    <p:sldId id="264" r:id="rId14"/>
    <p:sldId id="265" r:id="rId15"/>
  </p:sldIdLst>
  <p:sldSz cy="6858000" cx="12192000"/>
  <p:notesSz cx="6858000" cy="9144000"/>
  <p:embeddedFontLst>
    <p:embeddedFont>
      <p:font typeface="Plus Jakarta San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0" roundtripDataSignature="AMtx7mhmdyWYLL/c5I3bblWZTYpIJ10X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PlusJakartaSans-regular.fntdata"/><Relationship Id="rId17" Type="http://schemas.openxmlformats.org/officeDocument/2006/relationships/font" Target="fonts/PlusJakartaSans-bold.fntdata"/><Relationship Id="rId18" Type="http://schemas.openxmlformats.org/officeDocument/2006/relationships/font" Target="fonts/PlusJakartaSans-italic.fntdata"/><Relationship Id="rId19" Type="http://schemas.openxmlformats.org/officeDocument/2006/relationships/font" Target="fonts/PlusJakartaSans-boldItalic.fntdata"/><Relationship Id="rId20" Type="http://customschemas.google.com/relationships/presentationmetadata" Target="metadata"/><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everyone, we’re presenting </a:t>
            </a:r>
            <a:r>
              <a:rPr b="1" lang="en-US"/>
              <a:t>Cervantes: Narrative-Driven Assessment for Higher Education</a:t>
            </a:r>
            <a:r>
              <a:rPr lang="en-US"/>
              <a:t>.</a:t>
            </a:r>
            <a:endParaRPr/>
          </a:p>
          <a:p>
            <a:pPr indent="0" lvl="0" marL="0" rtl="0" algn="l">
              <a:spcBef>
                <a:spcPts val="0"/>
              </a:spcBef>
              <a:spcAft>
                <a:spcPts val="0"/>
              </a:spcAft>
              <a:buNone/>
            </a:pPr>
            <a:r>
              <a:rPr lang="en-US"/>
              <a:t>This project responds to the EduX challenge of rethinking assessment in the age of generative AI.</a:t>
            </a:r>
            <a:endParaRPr/>
          </a:p>
          <a:p>
            <a:pPr indent="0" lvl="0" marL="0" rtl="0" algn="l">
              <a:spcBef>
                <a:spcPts val="0"/>
              </a:spcBef>
              <a:spcAft>
                <a:spcPts val="0"/>
              </a:spcAft>
              <a:buNone/>
            </a:pPr>
            <a:r>
              <a:rPr lang="en-US"/>
              <a:t>The core issue is no longer just whether students use AI. It is that traditional assessments are losing the ability to reveal whether students actually </a:t>
            </a:r>
            <a:r>
              <a:rPr b="1" lang="en-US"/>
              <a:t>understand</a:t>
            </a:r>
            <a:r>
              <a:rPr lang="en-US"/>
              <a:t> what they are doing.</a:t>
            </a:r>
            <a:endParaRPr/>
          </a:p>
          <a:p>
            <a:pPr indent="0" lvl="0" marL="0" rtl="0" algn="l">
              <a:spcBef>
                <a:spcPts val="0"/>
              </a:spcBef>
              <a:spcAft>
                <a:spcPts val="0"/>
              </a:spcAft>
              <a:buNone/>
            </a:pPr>
            <a:r>
              <a:rPr lang="en-US"/>
              <a:t>So our idea is simple: instead of assessing only final outputs, we assess the student’s </a:t>
            </a:r>
            <a:r>
              <a:rPr b="1" lang="en-US"/>
              <a:t>reasoning process</a:t>
            </a:r>
            <a:r>
              <a:rPr lang="en-US"/>
              <a:t> through an interactive narrative experience.”</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“Traditional assessments are breaking down.</a:t>
            </a:r>
            <a:endParaRPr/>
          </a:p>
          <a:p>
            <a:pPr indent="0" lvl="0" marL="0" rtl="0" algn="l">
              <a:spcBef>
                <a:spcPts val="0"/>
              </a:spcBef>
              <a:spcAft>
                <a:spcPts val="0"/>
              </a:spcAft>
              <a:buNone/>
            </a:pPr>
            <a:r>
              <a:rPr lang="en-US"/>
              <a:t>Exams often reward recall under pressure rather than genuine conceptual mastery. Essays and take-home tasks can now be heavily assisted by generative AI. And automated quizzes are scalable, but shallow — they tell you whether a student got something right, but not how they thought.</a:t>
            </a:r>
            <a:endParaRPr/>
          </a:p>
          <a:p>
            <a:pPr indent="0" lvl="0" marL="0" rtl="0" algn="l">
              <a:spcBef>
                <a:spcPts val="0"/>
              </a:spcBef>
              <a:spcAft>
                <a:spcPts val="0"/>
              </a:spcAft>
              <a:buNone/>
            </a:pPr>
            <a:r>
              <a:rPr lang="en-US"/>
              <a:t>That creates the real crisis: </a:t>
            </a:r>
            <a:r>
              <a:rPr b="1" lang="en-US"/>
              <a:t>atrophy of thought</a:t>
            </a:r>
            <a:r>
              <a:rPr lang="en-US"/>
              <a:t> and a loss of visibility into student reasoning.</a:t>
            </a:r>
            <a:endParaRPr/>
          </a:p>
          <a:p>
            <a:pPr indent="0" lvl="0" marL="0" rtl="0" algn="l">
              <a:spcBef>
                <a:spcPts val="0"/>
              </a:spcBef>
              <a:spcAft>
                <a:spcPts val="0"/>
              </a:spcAft>
              <a:buNone/>
            </a:pPr>
            <a:r>
              <a:rPr lang="en-US"/>
              <a:t>Educators are stuck between two bad options: hand-graded work that does not scale, or automated assessment that strips away depth.</a:t>
            </a:r>
            <a:endParaRPr/>
          </a:p>
          <a:p>
            <a:pPr indent="0" lvl="0" marL="0" rtl="0" algn="l">
              <a:spcBef>
                <a:spcPts val="0"/>
              </a:spcBef>
              <a:spcAft>
                <a:spcPts val="0"/>
              </a:spcAft>
              <a:buNone/>
            </a:pPr>
            <a:r>
              <a:rPr lang="en-US"/>
              <a:t>What universities need is a middle ground — something that still scales, but actually captures reasoning, reflection, and conceptual understanding.”</a:t>
            </a:r>
            <a:endParaRPr/>
          </a:p>
        </p:txBody>
      </p:sp>
      <p:sp>
        <p:nvSpPr>
          <p:cNvPr id="101" name="Google Shape;10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 is where </a:t>
            </a:r>
            <a:r>
              <a:rPr b="1" lang="en-US"/>
              <a:t>Cervantes</a:t>
            </a:r>
            <a:r>
              <a:rPr lang="en-US"/>
              <a:t> comes in.</a:t>
            </a:r>
            <a:endParaRPr/>
          </a:p>
          <a:p>
            <a:pPr indent="0" lvl="0" marL="0" rtl="0" algn="l">
              <a:spcBef>
                <a:spcPts val="0"/>
              </a:spcBef>
              <a:spcAft>
                <a:spcPts val="0"/>
              </a:spcAft>
              <a:buNone/>
            </a:pPr>
            <a:r>
              <a:rPr lang="en-US"/>
              <a:t>Cervantes transforms assessment into a </a:t>
            </a:r>
            <a:r>
              <a:rPr b="1" lang="en-US"/>
              <a:t>visual-novel-style interactive experience</a:t>
            </a:r>
            <a:r>
              <a:rPr lang="en-US"/>
              <a:t> where students demonstrate understanding through dialogue, decisions, and reflection inside curriculum-aligned scenarios.</a:t>
            </a:r>
            <a:endParaRPr/>
          </a:p>
          <a:p>
            <a:pPr indent="0" lvl="0" marL="0" rtl="0" algn="l">
              <a:spcBef>
                <a:spcPts val="0"/>
              </a:spcBef>
              <a:spcAft>
                <a:spcPts val="0"/>
              </a:spcAft>
              <a:buNone/>
            </a:pPr>
            <a:r>
              <a:rPr lang="en-US"/>
              <a:t>Instead of being handed a dead question sheet, students enter a situation. They interact with characters, respond to prompts, and move through branching scenes designed to reveal how they think.</a:t>
            </a:r>
            <a:endParaRPr/>
          </a:p>
          <a:p>
            <a:pPr indent="0" lvl="0" marL="0" rtl="0" algn="l">
              <a:spcBef>
                <a:spcPts val="0"/>
              </a:spcBef>
              <a:spcAft>
                <a:spcPts val="0"/>
              </a:spcAft>
              <a:buNone/>
            </a:pPr>
            <a:r>
              <a:rPr lang="en-US"/>
              <a:t>Part of our inspiration came from narrative works like </a:t>
            </a:r>
            <a:r>
              <a:rPr i="1" lang="en-US"/>
              <a:t>World End Economica</a:t>
            </a:r>
            <a:r>
              <a:rPr lang="en-US"/>
              <a:t>, which show that complex ideas can be meaningfully explored through story and dialogue. That shaped our view that narrative here is not decoration — it is a serious medium for surfacing understanding.</a:t>
            </a:r>
            <a:endParaRPr/>
          </a:p>
          <a:p>
            <a:pPr indent="0" lvl="0" marL="0" rtl="0" algn="l">
              <a:spcBef>
                <a:spcPts val="0"/>
              </a:spcBef>
              <a:spcAft>
                <a:spcPts val="0"/>
              </a:spcAft>
              <a:buNone/>
            </a:pPr>
            <a:r>
              <a:rPr lang="en-US"/>
              <a:t>Inside these scenarios, AI acts as a </a:t>
            </a:r>
            <a:r>
              <a:rPr b="1" lang="en-US"/>
              <a:t>Socratic partner</a:t>
            </a:r>
            <a:r>
              <a:rPr lang="en-US"/>
              <a:t>. It does not just ask for answers. It probes reasoning, challenges weak responses, and keeps the student actively thinking.</a:t>
            </a:r>
            <a:endParaRPr/>
          </a:p>
          <a:p>
            <a:pPr indent="0" lvl="0" marL="0" rtl="0" algn="l">
              <a:spcBef>
                <a:spcPts val="0"/>
              </a:spcBef>
              <a:spcAft>
                <a:spcPts val="0"/>
              </a:spcAft>
              <a:buNone/>
            </a:pPr>
            <a:r>
              <a:rPr lang="en-US"/>
              <a:t>So the result is no longer just a final answer. It is a </a:t>
            </a:r>
            <a:r>
              <a:rPr b="1" lang="en-US"/>
              <a:t>reasoning trace</a:t>
            </a:r>
            <a:r>
              <a:rPr lang="en-US"/>
              <a:t>.”</a:t>
            </a:r>
            <a:endParaRPr/>
          </a:p>
        </p:txBody>
      </p:sp>
      <p:sp>
        <p:nvSpPr>
          <p:cNvPr id="111" name="Google Shape;11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teachers, this has to be practical, or it fails.</a:t>
            </a:r>
            <a:endParaRPr/>
          </a:p>
          <a:p>
            <a:pPr indent="0" lvl="0" marL="0" rtl="0" algn="l">
              <a:spcBef>
                <a:spcPts val="0"/>
              </a:spcBef>
              <a:spcAft>
                <a:spcPts val="0"/>
              </a:spcAft>
              <a:buNone/>
            </a:pPr>
            <a:r>
              <a:rPr lang="en-US"/>
              <a:t>So the teacher workflow is designed to be simple.</a:t>
            </a:r>
            <a:endParaRPr/>
          </a:p>
          <a:p>
            <a:pPr indent="0" lvl="0" marL="0" rtl="0" algn="l">
              <a:spcBef>
                <a:spcPts val="0"/>
              </a:spcBef>
              <a:spcAft>
                <a:spcPts val="0"/>
              </a:spcAft>
              <a:buNone/>
            </a:pPr>
            <a:r>
              <a:rPr lang="en-US"/>
              <a:t>First, the teacher uploads their materials: subject content, concept targets, and rubric focus.</a:t>
            </a:r>
            <a:endParaRPr/>
          </a:p>
          <a:p>
            <a:pPr indent="0" lvl="0" marL="0" rtl="0" algn="l">
              <a:spcBef>
                <a:spcPts val="0"/>
              </a:spcBef>
              <a:spcAft>
                <a:spcPts val="0"/>
              </a:spcAft>
              <a:buNone/>
            </a:pPr>
            <a:r>
              <a:rPr lang="en-US"/>
              <a:t>Then our curriculum alignment layer, </a:t>
            </a:r>
            <a:r>
              <a:rPr b="1" lang="en-US"/>
              <a:t>CurricuLLM</a:t>
            </a:r>
            <a:r>
              <a:rPr lang="en-US"/>
              <a:t>, maps that material to standards, extracts key concepts, and identifies likely misconceptions.</a:t>
            </a:r>
            <a:endParaRPr/>
          </a:p>
          <a:p>
            <a:pPr indent="0" lvl="0" marL="0" rtl="0" algn="l">
              <a:spcBef>
                <a:spcPts val="0"/>
              </a:spcBef>
              <a:spcAft>
                <a:spcPts val="0"/>
              </a:spcAft>
              <a:buNone/>
            </a:pPr>
            <a:r>
              <a:rPr lang="en-US"/>
              <a:t>Next, Gemini generates scenes, characters, Socratic checkpoints, and branching dialogue based on those educational targets.</a:t>
            </a:r>
            <a:endParaRPr/>
          </a:p>
          <a:p>
            <a:pPr indent="0" lvl="0" marL="0" rtl="0" algn="l">
              <a:spcBef>
                <a:spcPts val="0"/>
              </a:spcBef>
              <a:spcAft>
                <a:spcPts val="0"/>
              </a:spcAft>
              <a:buNone/>
            </a:pPr>
            <a:r>
              <a:rPr lang="en-US"/>
              <a:t>Then the teacher reviews the generated assessment, makes adjustments if needed, and publishes it to students.</a:t>
            </a:r>
            <a:endParaRPr/>
          </a:p>
          <a:p>
            <a:pPr indent="0" lvl="0" marL="0" rtl="0" algn="l">
              <a:spcBef>
                <a:spcPts val="0"/>
              </a:spcBef>
              <a:spcAft>
                <a:spcPts val="0"/>
              </a:spcAft>
              <a:buNone/>
            </a:pPr>
            <a:r>
              <a:rPr lang="en-US"/>
              <a:t>So the system is not asking teachers to become writers, game designers, or prompt engineers. It reduces administrative burden while still keeping the educator in control.”</a:t>
            </a:r>
            <a:endParaRPr/>
          </a:p>
        </p:txBody>
      </p:sp>
      <p:sp>
        <p:nvSpPr>
          <p:cNvPr id="124" name="Google Shape;12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students, Cervantes is designed to feel more like an unfolding experience than a static test.</a:t>
            </a:r>
            <a:endParaRPr/>
          </a:p>
          <a:p>
            <a:pPr indent="0" lvl="0" marL="0" rtl="0" algn="l">
              <a:spcBef>
                <a:spcPts val="0"/>
              </a:spcBef>
              <a:spcAft>
                <a:spcPts val="0"/>
              </a:spcAft>
              <a:buNone/>
            </a:pPr>
            <a:r>
              <a:rPr lang="en-US"/>
              <a:t>They access the assessment through a PWA on any device. As they move through the story, they encounter natural dialogue moments where they need to explain, justify, predict, or revise their thinking.</a:t>
            </a:r>
            <a:endParaRPr/>
          </a:p>
          <a:p>
            <a:pPr indent="0" lvl="0" marL="0" rtl="0" algn="l">
              <a:spcBef>
                <a:spcPts val="0"/>
              </a:spcBef>
              <a:spcAft>
                <a:spcPts val="0"/>
              </a:spcAft>
              <a:buNone/>
            </a:pPr>
            <a:r>
              <a:rPr lang="en-US"/>
              <a:t>A key feature here is our </a:t>
            </a:r>
            <a:r>
              <a:rPr b="1" lang="en-US"/>
              <a:t>pushback system</a:t>
            </a:r>
            <a:r>
              <a:rPr lang="en-US"/>
              <a:t>.</a:t>
            </a:r>
            <a:endParaRPr/>
          </a:p>
          <a:p>
            <a:pPr indent="0" lvl="0" marL="0" rtl="0" algn="l">
              <a:spcBef>
                <a:spcPts val="0"/>
              </a:spcBef>
              <a:spcAft>
                <a:spcPts val="0"/>
              </a:spcAft>
              <a:buNone/>
            </a:pPr>
            <a:r>
              <a:rPr lang="en-US"/>
              <a:t>When a student gives a shallow, inconsistent, or weakly justified response, the AI does not simply accept it and move on. It pushes back. It asks the student to clarify, defend, compare, or rethink their reasoning.</a:t>
            </a:r>
            <a:endParaRPr/>
          </a:p>
          <a:p>
            <a:pPr indent="0" lvl="0" marL="0" rtl="0" algn="l">
              <a:spcBef>
                <a:spcPts val="0"/>
              </a:spcBef>
              <a:spcAft>
                <a:spcPts val="0"/>
              </a:spcAft>
              <a:buNone/>
            </a:pPr>
            <a:r>
              <a:rPr lang="en-US"/>
              <a:t>That matters because it stops the interaction from becoming passive Q and A. It turns it into a genuine reflection and verification loop.</a:t>
            </a:r>
            <a:endParaRPr/>
          </a:p>
          <a:p>
            <a:pPr indent="0" lvl="0" marL="0" rtl="0" algn="l">
              <a:spcBef>
                <a:spcPts val="0"/>
              </a:spcBef>
              <a:spcAft>
                <a:spcPts val="0"/>
              </a:spcAft>
              <a:buNone/>
            </a:pPr>
            <a:r>
              <a:rPr lang="en-US"/>
              <a:t>At the same time, every choice, response, and branch is recorded into reasoning journals and traces, so educators can later see not just what the student answered, but how they got there.”</a:t>
            </a:r>
            <a:endParaRPr/>
          </a:p>
        </p:txBody>
      </p:sp>
      <p:sp>
        <p:nvSpPr>
          <p:cNvPr id="135" name="Google Shape;1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intelligence layer has three main components.</a:t>
            </a:r>
            <a:endParaRPr/>
          </a:p>
          <a:p>
            <a:pPr indent="0" lvl="0" marL="0" rtl="0" algn="l">
              <a:spcBef>
                <a:spcPts val="0"/>
              </a:spcBef>
              <a:spcAft>
                <a:spcPts val="0"/>
              </a:spcAft>
              <a:buNone/>
            </a:pPr>
            <a:r>
              <a:rPr lang="en-US"/>
              <a:t>First is </a:t>
            </a:r>
            <a:r>
              <a:rPr b="1" lang="en-US"/>
              <a:t>CurricuLLM</a:t>
            </a:r>
            <a:r>
              <a:rPr lang="en-US"/>
              <a:t>, which grounds everything in real curriculum and rubric expectations. It extracts concept targets, aligns to standards, and identifies possible misconceptions before the scenario is even generated.</a:t>
            </a:r>
            <a:endParaRPr/>
          </a:p>
          <a:p>
            <a:pPr indent="0" lvl="0" marL="0" rtl="0" algn="l">
              <a:spcBef>
                <a:spcPts val="0"/>
              </a:spcBef>
              <a:spcAft>
                <a:spcPts val="0"/>
              </a:spcAft>
              <a:buNone/>
            </a:pPr>
            <a:r>
              <a:rPr lang="en-US"/>
              <a:t>Second is </a:t>
            </a:r>
            <a:r>
              <a:rPr b="1" lang="en-US"/>
              <a:t>Gemini 2.5 Flash</a:t>
            </a:r>
            <a:r>
              <a:rPr lang="en-US"/>
              <a:t>, which powers the narrative generation and the real-time Socratic dialogue. This is what allows scenes and questioning to adapt to the student’s responses in the moment.</a:t>
            </a:r>
            <a:endParaRPr/>
          </a:p>
          <a:p>
            <a:pPr indent="0" lvl="0" marL="0" rtl="0" algn="l">
              <a:spcBef>
                <a:spcPts val="0"/>
              </a:spcBef>
              <a:spcAft>
                <a:spcPts val="0"/>
              </a:spcAft>
              <a:buNone/>
            </a:pPr>
            <a:r>
              <a:rPr lang="en-US"/>
              <a:t>Third is our </a:t>
            </a:r>
            <a:r>
              <a:rPr b="1" lang="en-US"/>
              <a:t>reasoning graph layer</a:t>
            </a:r>
            <a:r>
              <a:rPr lang="en-US"/>
              <a:t>, which captures the student’s decision path and surfaces patterns in their thinking.</a:t>
            </a:r>
            <a:endParaRPr/>
          </a:p>
          <a:p>
            <a:pPr indent="0" lvl="0" marL="0" rtl="0" algn="l">
              <a:spcBef>
                <a:spcPts val="0"/>
              </a:spcBef>
              <a:spcAft>
                <a:spcPts val="0"/>
              </a:spcAft>
              <a:buNone/>
            </a:pPr>
            <a:r>
              <a:rPr lang="en-US"/>
              <a:t>This is important because the challenge is not asking for a chatbot that gives better answers. It is asking for AI-as-infrastructure for </a:t>
            </a:r>
            <a:r>
              <a:rPr b="1" lang="en-US"/>
              <a:t>deep conceptual mastery</a:t>
            </a:r>
            <a:r>
              <a:rPr lang="en-US"/>
              <a:t>.</a:t>
            </a:r>
            <a:endParaRPr/>
          </a:p>
          <a:p>
            <a:pPr indent="0" lvl="0" marL="0" rtl="0" algn="l">
              <a:spcBef>
                <a:spcPts val="0"/>
              </a:spcBef>
              <a:spcAft>
                <a:spcPts val="0"/>
              </a:spcAft>
              <a:buNone/>
            </a:pPr>
            <a:r>
              <a:rPr lang="en-US"/>
              <a:t>Our pushback and reasoning graph system is how we operationalise that. The AI is not there to replace thinking. It is there to expose, test, and deepen it.”</a:t>
            </a:r>
            <a:endParaRPr/>
          </a:p>
        </p:txBody>
      </p:sp>
      <p:sp>
        <p:nvSpPr>
          <p:cNvPr id="148" name="Google Shape;14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“Technically, we built Cervantes as a realistic full-stack system.</a:t>
            </a:r>
            <a:endParaRPr/>
          </a:p>
          <a:p>
            <a:pPr indent="0" lvl="0" marL="0" rtl="0" algn="l">
              <a:spcBef>
                <a:spcPts val="0"/>
              </a:spcBef>
              <a:spcAft>
                <a:spcPts val="0"/>
              </a:spcAft>
              <a:buNone/>
            </a:pPr>
            <a:r>
              <a:rPr lang="en-US"/>
              <a:t>Our frontend uses </a:t>
            </a:r>
            <a:r>
              <a:rPr b="1" lang="en-US"/>
              <a:t>Next.js</a:t>
            </a:r>
            <a:r>
              <a:rPr lang="en-US"/>
              <a:t> for both the teacher dashboard and the student-facing PWA. The backend uses </a:t>
            </a:r>
            <a:r>
              <a:rPr b="1" lang="en-US"/>
              <a:t>FastAPI</a:t>
            </a:r>
            <a:r>
              <a:rPr lang="en-US"/>
              <a:t> to handle generation, dialogue orchestration, and system logic.</a:t>
            </a:r>
            <a:endParaRPr/>
          </a:p>
          <a:p>
            <a:pPr indent="0" lvl="0" marL="0" rtl="0" algn="l">
              <a:spcBef>
                <a:spcPts val="0"/>
              </a:spcBef>
              <a:spcAft>
                <a:spcPts val="0"/>
              </a:spcAft>
              <a:buNone/>
            </a:pPr>
            <a:r>
              <a:rPr lang="en-US"/>
              <a:t>For services, we use </a:t>
            </a:r>
            <a:r>
              <a:rPr b="1" lang="en-US"/>
              <a:t>Firebase Auth and Firestore</a:t>
            </a:r>
            <a:r>
              <a:rPr lang="en-US"/>
              <a:t> for authentication and real-time data flow, and </a:t>
            </a:r>
            <a:r>
              <a:rPr b="1" lang="en-US"/>
              <a:t>Gemini</a:t>
            </a:r>
            <a:r>
              <a:rPr lang="en-US"/>
              <a:t> for content generation and adaptive questioning. The system is deployed in a cloud-ready architecture designed to be accessible and scalable.</a:t>
            </a:r>
            <a:endParaRPr/>
          </a:p>
          <a:p>
            <a:pPr indent="0" lvl="0" marL="0" rtl="0" algn="l">
              <a:spcBef>
                <a:spcPts val="0"/>
              </a:spcBef>
              <a:spcAft>
                <a:spcPts val="0"/>
              </a:spcAft>
              <a:buNone/>
            </a:pPr>
            <a:r>
              <a:rPr lang="en-US"/>
              <a:t>We chose this stack for feasibility. Students do not need to install an app. Teachers can access the dashboard directly. And reasoning traces can be surfaced live as students progress.</a:t>
            </a:r>
            <a:endParaRPr/>
          </a:p>
          <a:p>
            <a:pPr indent="0" lvl="0" marL="0" rtl="0" algn="l">
              <a:spcBef>
                <a:spcPts val="0"/>
              </a:spcBef>
              <a:spcAft>
                <a:spcPts val="0"/>
              </a:spcAft>
              <a:buNone/>
            </a:pPr>
            <a:r>
              <a:rPr lang="en-US"/>
              <a:t>So from a judging standpoint, this is not just conceptually interesting — it is technically achievable.”</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are four main technical strengths behind Cervantes.</a:t>
            </a:r>
            <a:endParaRPr/>
          </a:p>
          <a:p>
            <a:pPr indent="0" lvl="0" marL="0" rtl="0" algn="l">
              <a:spcBef>
                <a:spcPts val="0"/>
              </a:spcBef>
              <a:spcAft>
                <a:spcPts val="0"/>
              </a:spcAft>
              <a:buNone/>
            </a:pPr>
            <a:r>
              <a:rPr lang="en-US"/>
              <a:t>First, </a:t>
            </a:r>
            <a:r>
              <a:rPr b="1" lang="en-US"/>
              <a:t>curriculum grounding</a:t>
            </a:r>
            <a:r>
              <a:rPr lang="en-US"/>
              <a:t>. This keeps generated assessments tied to real learning outcomes rather than drifting into generic AI content.</a:t>
            </a:r>
            <a:endParaRPr/>
          </a:p>
          <a:p>
            <a:pPr indent="0" lvl="0" marL="0" rtl="0" algn="l">
              <a:spcBef>
                <a:spcPts val="0"/>
              </a:spcBef>
              <a:spcAft>
                <a:spcPts val="0"/>
              </a:spcAft>
              <a:buNone/>
            </a:pPr>
            <a:r>
              <a:rPr lang="en-US"/>
              <a:t>Second, </a:t>
            </a:r>
            <a:r>
              <a:rPr b="1" lang="en-US"/>
              <a:t>adaptive dialogue</a:t>
            </a:r>
            <a:r>
              <a:rPr lang="en-US"/>
              <a:t>. The system changes its questioning depth based on the student’s responses, which makes the assessment more diagnostic and less static.</a:t>
            </a:r>
            <a:endParaRPr/>
          </a:p>
          <a:p>
            <a:pPr indent="0" lvl="0" marL="0" rtl="0" algn="l">
              <a:spcBef>
                <a:spcPts val="0"/>
              </a:spcBef>
              <a:spcAft>
                <a:spcPts val="0"/>
              </a:spcAft>
              <a:buNone/>
            </a:pPr>
            <a:r>
              <a:rPr lang="en-US"/>
              <a:t>Third, </a:t>
            </a:r>
            <a:r>
              <a:rPr b="1" lang="en-US"/>
              <a:t>real-time reasoning traces</a:t>
            </a:r>
            <a:r>
              <a:rPr lang="en-US"/>
              <a:t>. Teachers can monitor student progress and inspect the path a student took, not just the endpoint.</a:t>
            </a:r>
            <a:endParaRPr/>
          </a:p>
          <a:p>
            <a:pPr indent="0" lvl="0" marL="0" rtl="0" algn="l">
              <a:spcBef>
                <a:spcPts val="0"/>
              </a:spcBef>
              <a:spcAft>
                <a:spcPts val="0"/>
              </a:spcAft>
              <a:buNone/>
            </a:pPr>
            <a:r>
              <a:rPr lang="en-US"/>
              <a:t>And fourth, </a:t>
            </a:r>
            <a:r>
              <a:rPr b="1" lang="en-US"/>
              <a:t>PWA-first delivery</a:t>
            </a:r>
            <a:r>
              <a:rPr lang="en-US"/>
              <a:t>. That means lower friction, broader accessibility, and easier classroom adoption.</a:t>
            </a:r>
            <a:endParaRPr/>
          </a:p>
          <a:p>
            <a:pPr indent="0" lvl="0" marL="0" rtl="0" algn="l">
              <a:spcBef>
                <a:spcPts val="0"/>
              </a:spcBef>
              <a:spcAft>
                <a:spcPts val="0"/>
              </a:spcAft>
              <a:buNone/>
            </a:pPr>
            <a:r>
              <a:rPr lang="en-US"/>
              <a:t>So what makes Cervantes strong is not just that it uses AI. It is that it uses AI in a way that supports pedagogy, visibility, and reflection.”</a:t>
            </a:r>
            <a:endParaRPr/>
          </a:p>
        </p:txBody>
      </p:sp>
      <p:sp>
        <p:nvSpPr>
          <p:cNvPr id="177" name="Google Shape;17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impact of Cervantes is that it changes what assessment rewards.</a:t>
            </a:r>
            <a:endParaRPr/>
          </a:p>
          <a:p>
            <a:pPr indent="0" lvl="0" marL="0" rtl="0" algn="l">
              <a:spcBef>
                <a:spcPts val="0"/>
              </a:spcBef>
              <a:spcAft>
                <a:spcPts val="0"/>
              </a:spcAft>
              <a:buNone/>
            </a:pPr>
            <a:r>
              <a:rPr lang="en-US"/>
              <a:t>Instead of rewarding polished final outputs alone, it rewards engagement, justification, revision, and conceptual clarity.</a:t>
            </a:r>
            <a:endParaRPr/>
          </a:p>
          <a:p>
            <a:pPr indent="0" lvl="0" marL="0" rtl="0" algn="l">
              <a:spcBef>
                <a:spcPts val="0"/>
              </a:spcBef>
              <a:spcAft>
                <a:spcPts val="0"/>
              </a:spcAft>
              <a:buNone/>
            </a:pPr>
            <a:r>
              <a:rPr lang="en-US"/>
              <a:t>For students, that means less emphasis on performance under pressure and more emphasis on meaningful understanding.</a:t>
            </a:r>
            <a:endParaRPr/>
          </a:p>
          <a:p>
            <a:pPr indent="0" lvl="0" marL="0" rtl="0" algn="l">
              <a:spcBef>
                <a:spcPts val="0"/>
              </a:spcBef>
              <a:spcAft>
                <a:spcPts val="0"/>
              </a:spcAft>
              <a:buNone/>
            </a:pPr>
            <a:r>
              <a:rPr lang="en-US"/>
              <a:t>For educators, it means being able to see thought processes, misconceptions, and reasoning gaps that would usually stay invisible.</a:t>
            </a:r>
            <a:endParaRPr/>
          </a:p>
          <a:p>
            <a:pPr indent="0" lvl="0" marL="0" rtl="0" algn="l">
              <a:spcBef>
                <a:spcPts val="0"/>
              </a:spcBef>
              <a:spcAft>
                <a:spcPts val="0"/>
              </a:spcAft>
              <a:buNone/>
            </a:pPr>
            <a:r>
              <a:rPr lang="en-US"/>
              <a:t>And for institutions, it offers a path toward AI-era assessment that is scalable, structured, and more aligned with actual learning.</a:t>
            </a:r>
            <a:endParaRPr/>
          </a:p>
          <a:p>
            <a:pPr indent="0" lvl="0" marL="0" rtl="0" algn="l">
              <a:spcBef>
                <a:spcPts val="0"/>
              </a:spcBef>
              <a:spcAft>
                <a:spcPts val="0"/>
              </a:spcAft>
              <a:buNone/>
            </a:pPr>
            <a:r>
              <a:rPr lang="en-US"/>
              <a:t>Looking forward, we see clear expansion paths: LMS integration, multilingual support, collaborative narrative scenarios, and voice-based interaction. But the core idea stays the same — assessment should not just measure what a student produces. It should reveal how they think.”</a:t>
            </a:r>
            <a:endParaRPr/>
          </a:p>
        </p:txBody>
      </p:sp>
      <p:sp>
        <p:nvSpPr>
          <p:cNvPr id="190" name="Google Shape;19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close, the EduX challenge asks how we can move beyond static outputs and build assessment for deep conceptual mastery in the age of AI.</a:t>
            </a:r>
            <a:endParaRPr/>
          </a:p>
          <a:p>
            <a:pPr indent="0" lvl="0" marL="0" rtl="0" algn="l">
              <a:spcBef>
                <a:spcPts val="0"/>
              </a:spcBef>
              <a:spcAft>
                <a:spcPts val="0"/>
              </a:spcAft>
              <a:buNone/>
            </a:pPr>
            <a:r>
              <a:rPr lang="en-US"/>
              <a:t>Our answer is </a:t>
            </a:r>
            <a:r>
              <a:rPr b="1" lang="en-US"/>
              <a:t>Cervantes</a:t>
            </a:r>
            <a:r>
              <a:rPr lang="en-US"/>
              <a:t>.</a:t>
            </a:r>
            <a:endParaRPr/>
          </a:p>
          <a:p>
            <a:pPr indent="0" lvl="0" marL="0" rtl="0" algn="l">
              <a:spcBef>
                <a:spcPts val="0"/>
              </a:spcBef>
              <a:spcAft>
                <a:spcPts val="0"/>
              </a:spcAft>
              <a:buNone/>
            </a:pPr>
            <a:r>
              <a:rPr lang="en-US"/>
              <a:t>A system where AI acts as a Socratic interlocutor, narrative becomes the assessment medium, and reasoning becomes the thing we actually evaluate.</a:t>
            </a:r>
            <a:endParaRPr/>
          </a:p>
          <a:p>
            <a:pPr indent="0" lvl="0" marL="0" rtl="0" algn="l">
              <a:spcBef>
                <a:spcPts val="0"/>
              </a:spcBef>
              <a:spcAft>
                <a:spcPts val="0"/>
              </a:spcAft>
              <a:buNone/>
            </a:pPr>
            <a:r>
              <a:rPr lang="en-US"/>
              <a:t>Rather than treating AI as a shortcut around learning, we use it as infrastructure for exposing and strengthening thought.</a:t>
            </a:r>
            <a:endParaRPr/>
          </a:p>
          <a:p>
            <a:pPr indent="0" lvl="0" marL="0" rtl="0" algn="l">
              <a:spcBef>
                <a:spcPts val="0"/>
              </a:spcBef>
              <a:spcAft>
                <a:spcPts val="0"/>
              </a:spcAft>
              <a:buNone/>
            </a:pPr>
            <a:r>
              <a:rPr lang="en-US"/>
              <a:t>Thank you.”</a:t>
            </a:r>
            <a:endParaRPr/>
          </a:p>
          <a:p>
            <a:pPr indent="0" lvl="0" marL="0" rtl="0" algn="l">
              <a:spcBef>
                <a:spcPts val="0"/>
              </a:spcBef>
              <a:spcAft>
                <a:spcPts val="0"/>
              </a:spcAft>
              <a:buNone/>
            </a:pPr>
            <a:r>
              <a:t/>
            </a:r>
            <a:endParaRPr/>
          </a:p>
        </p:txBody>
      </p:sp>
      <p:sp>
        <p:nvSpPr>
          <p:cNvPr id="203" name="Google Shape;20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0"/>
          <p:cNvSpPr/>
          <p:nvPr>
            <p:ph idx="2" type="pic"/>
          </p:nvPr>
        </p:nvSpPr>
        <p:spPr>
          <a:xfrm>
            <a:off x="1792288" y="612775"/>
            <a:ext cx="5486400" cy="4114800"/>
          </a:xfrm>
          <a:prstGeom prst="rect">
            <a:avLst/>
          </a:prstGeom>
          <a:noFill/>
          <a:ln>
            <a:noFill/>
          </a:ln>
        </p:spPr>
      </p:sp>
      <p:sp>
        <p:nvSpPr>
          <p:cNvPr id="68" name="Google Shape;68;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88" name="Shape 88"/>
        <p:cNvGrpSpPr/>
        <p:nvPr/>
      </p:nvGrpSpPr>
      <p:grpSpPr>
        <a:xfrm>
          <a:off x="0" y="0"/>
          <a:ext cx="0" cy="0"/>
          <a:chOff x="0" y="0"/>
          <a:chExt cx="0" cy="0"/>
        </a:xfrm>
      </p:grpSpPr>
      <p:sp>
        <p:nvSpPr>
          <p:cNvPr id="89" name="Google Shape;89;p1"/>
          <p:cNvSpPr/>
          <p:nvPr/>
        </p:nvSpPr>
        <p:spPr>
          <a:xfrm>
            <a:off x="5486400" y="914400"/>
            <a:ext cx="1005840" cy="1005840"/>
          </a:xfrm>
          <a:prstGeom prst="roundRect">
            <a:avLst>
              <a:gd fmla="val 16667" name="adj"/>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4000" u="none" cap="none" strike="noStrike">
                <a:solidFill>
                  <a:srgbClr val="F4F1EA"/>
                </a:solidFill>
                <a:latin typeface="Plus Jakarta Sans"/>
                <a:ea typeface="Plus Jakarta Sans"/>
                <a:cs typeface="Plus Jakarta Sans"/>
                <a:sym typeface="Plus Jakarta Sans"/>
              </a:rPr>
              <a:t>C</a:t>
            </a:r>
            <a:endParaRPr/>
          </a:p>
        </p:txBody>
      </p:sp>
      <p:sp>
        <p:nvSpPr>
          <p:cNvPr id="90" name="Google Shape;90;p1"/>
          <p:cNvSpPr txBox="1"/>
          <p:nvPr/>
        </p:nvSpPr>
        <p:spPr>
          <a:xfrm>
            <a:off x="1371600" y="2194560"/>
            <a:ext cx="9418320" cy="10972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5400" u="none" cap="none" strike="noStrike">
                <a:solidFill>
                  <a:srgbClr val="1E1C18"/>
                </a:solidFill>
                <a:latin typeface="Plus Jakarta Sans"/>
                <a:ea typeface="Plus Jakarta Sans"/>
                <a:cs typeface="Plus Jakarta Sans"/>
                <a:sym typeface="Plus Jakarta Sans"/>
              </a:rPr>
              <a:t>CERVANTES</a:t>
            </a:r>
            <a:endParaRPr/>
          </a:p>
        </p:txBody>
      </p:sp>
      <p:sp>
        <p:nvSpPr>
          <p:cNvPr id="91" name="Google Shape;91;p1"/>
          <p:cNvSpPr/>
          <p:nvPr/>
        </p:nvSpPr>
        <p:spPr>
          <a:xfrm>
            <a:off x="5303520" y="3337560"/>
            <a:ext cx="1554480" cy="63500"/>
          </a:xfrm>
          <a:prstGeom prst="rect">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txBox="1"/>
          <p:nvPr/>
        </p:nvSpPr>
        <p:spPr>
          <a:xfrm>
            <a:off x="1828800" y="3611880"/>
            <a:ext cx="850392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2000" u="none" cap="none" strike="noStrike">
                <a:solidFill>
                  <a:srgbClr val="C85A32"/>
                </a:solidFill>
                <a:latin typeface="Plus Jakarta Sans"/>
                <a:ea typeface="Plus Jakarta Sans"/>
                <a:cs typeface="Plus Jakarta Sans"/>
                <a:sym typeface="Plus Jakarta Sans"/>
              </a:rPr>
              <a:t>Narrative-Driven Assessment for Higher Education</a:t>
            </a:r>
            <a:endParaRPr/>
          </a:p>
        </p:txBody>
      </p:sp>
      <p:sp>
        <p:nvSpPr>
          <p:cNvPr id="93" name="Google Shape;93;p1"/>
          <p:cNvSpPr txBox="1"/>
          <p:nvPr/>
        </p:nvSpPr>
        <p:spPr>
          <a:xfrm>
            <a:off x="1828800" y="4297680"/>
            <a:ext cx="850392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rgbClr val="6B655A"/>
                </a:solidFill>
                <a:latin typeface="Plus Jakarta Sans"/>
                <a:ea typeface="Plus Jakarta Sans"/>
                <a:cs typeface="Plus Jakarta Sans"/>
                <a:sym typeface="Plus Jakarta Sans"/>
              </a:rPr>
              <a:t>Cambridge EdTech x Hack 2026  —  EduX Challenge 1</a:t>
            </a:r>
            <a:endParaRPr/>
          </a:p>
        </p:txBody>
      </p:sp>
      <p:sp>
        <p:nvSpPr>
          <p:cNvPr id="94" name="Google Shape;94;p1"/>
          <p:cNvSpPr/>
          <p:nvPr/>
        </p:nvSpPr>
        <p:spPr>
          <a:xfrm>
            <a:off x="4572000" y="5029200"/>
            <a:ext cx="932688" cy="320040"/>
          </a:xfrm>
          <a:prstGeom prst="roundRect">
            <a:avLst>
              <a:gd fmla="val 16667" name="adj"/>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4F1EA"/>
                </a:solidFill>
                <a:latin typeface="Plus Jakarta Sans"/>
                <a:ea typeface="Plus Jakarta Sans"/>
                <a:cs typeface="Plus Jakarta Sans"/>
                <a:sym typeface="Plus Jakarta Sans"/>
              </a:rPr>
              <a:t>Jordan</a:t>
            </a:r>
            <a:endParaRPr/>
          </a:p>
        </p:txBody>
      </p:sp>
      <p:sp>
        <p:nvSpPr>
          <p:cNvPr id="95" name="Google Shape;95;p1"/>
          <p:cNvSpPr/>
          <p:nvPr/>
        </p:nvSpPr>
        <p:spPr>
          <a:xfrm>
            <a:off x="5641848" y="5029200"/>
            <a:ext cx="914400" cy="320040"/>
          </a:xfrm>
          <a:prstGeom prst="roundRect">
            <a:avLst>
              <a:gd fmla="val 16667" name="adj"/>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4F1EA"/>
                </a:solidFill>
                <a:latin typeface="Plus Jakarta Sans"/>
                <a:ea typeface="Plus Jakarta Sans"/>
                <a:cs typeface="Plus Jakarta Sans"/>
                <a:sym typeface="Plus Jakarta Sans"/>
              </a:rPr>
              <a:t>Liu</a:t>
            </a:r>
            <a:endParaRPr/>
          </a:p>
        </p:txBody>
      </p:sp>
      <p:sp>
        <p:nvSpPr>
          <p:cNvPr id="96" name="Google Shape;96;p1"/>
          <p:cNvSpPr/>
          <p:nvPr/>
        </p:nvSpPr>
        <p:spPr>
          <a:xfrm>
            <a:off x="6693408" y="5029200"/>
            <a:ext cx="932688" cy="320040"/>
          </a:xfrm>
          <a:prstGeom prst="roundRect">
            <a:avLst>
              <a:gd fmla="val 16667" name="adj"/>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4F1EA"/>
                </a:solidFill>
                <a:latin typeface="Plus Jakarta Sans"/>
                <a:ea typeface="Plus Jakarta Sans"/>
                <a:cs typeface="Plus Jakarta Sans"/>
                <a:sym typeface="Plus Jakarta Sans"/>
              </a:rPr>
              <a:t>Adrian</a:t>
            </a:r>
            <a:endParaRPr/>
          </a:p>
        </p:txBody>
      </p:sp>
      <p:pic>
        <p:nvPicPr>
          <p:cNvPr descr="Cervantes" id="97" name="Google Shape;97;p1"/>
          <p:cNvPicPr preferRelativeResize="0"/>
          <p:nvPr/>
        </p:nvPicPr>
        <p:blipFill rotWithShape="1">
          <a:blip r:embed="rId3">
            <a:alphaModFix/>
          </a:blip>
          <a:srcRect b="0" l="0" r="0" t="0"/>
          <a:stretch/>
        </p:blipFill>
        <p:spPr>
          <a:xfrm>
            <a:off x="1376298" y="629696"/>
            <a:ext cx="9439404" cy="258108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02" name="Shape 102"/>
        <p:cNvGrpSpPr/>
        <p:nvPr/>
      </p:nvGrpSpPr>
      <p:grpSpPr>
        <a:xfrm>
          <a:off x="0" y="0"/>
          <a:ext cx="0" cy="0"/>
          <a:chOff x="0" y="0"/>
          <a:chExt cx="0" cy="0"/>
        </a:xfrm>
      </p:grpSpPr>
      <p:sp>
        <p:nvSpPr>
          <p:cNvPr id="103" name="Google Shape;103;p2"/>
          <p:cNvSpPr txBox="1"/>
          <p:nvPr/>
        </p:nvSpPr>
        <p:spPr>
          <a:xfrm>
            <a:off x="731520" y="548640"/>
            <a:ext cx="1069848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400" u="none" cap="none" strike="noStrike">
                <a:solidFill>
                  <a:srgbClr val="C85A32"/>
                </a:solidFill>
                <a:latin typeface="Plus Jakarta Sans"/>
                <a:ea typeface="Plus Jakarta Sans"/>
                <a:cs typeface="Plus Jakarta Sans"/>
                <a:sym typeface="Plus Jakarta Sans"/>
              </a:rPr>
              <a:t>THE PROBLEM</a:t>
            </a:r>
            <a:endParaRPr/>
          </a:p>
        </p:txBody>
      </p:sp>
      <p:sp>
        <p:nvSpPr>
          <p:cNvPr id="104" name="Google Shape;104;p2"/>
          <p:cNvSpPr txBox="1"/>
          <p:nvPr/>
        </p:nvSpPr>
        <p:spPr>
          <a:xfrm>
            <a:off x="731520" y="960120"/>
            <a:ext cx="1069848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rgbClr val="1E1C18"/>
                </a:solidFill>
                <a:latin typeface="Plus Jakarta Sans"/>
                <a:ea typeface="Plus Jakarta Sans"/>
                <a:cs typeface="Plus Jakarta Sans"/>
                <a:sym typeface="Plus Jakarta Sans"/>
              </a:rPr>
              <a:t>Traditional Assessments Are Broken</a:t>
            </a:r>
            <a:endParaRPr/>
          </a:p>
        </p:txBody>
      </p:sp>
      <p:sp>
        <p:nvSpPr>
          <p:cNvPr id="105" name="Google Shape;105;p2"/>
          <p:cNvSpPr/>
          <p:nvPr/>
        </p:nvSpPr>
        <p:spPr>
          <a:xfrm>
            <a:off x="731520" y="1554480"/>
            <a:ext cx="1005840" cy="63500"/>
          </a:xfrm>
          <a:prstGeom prst="rect">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2"/>
          <p:cNvSpPr txBox="1"/>
          <p:nvPr/>
        </p:nvSpPr>
        <p:spPr>
          <a:xfrm>
            <a:off x="731520" y="1874520"/>
            <a:ext cx="5029200" cy="320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1" lang="en-US" sz="1500">
                <a:solidFill>
                  <a:srgbClr val="3A3730"/>
                </a:solidFill>
                <a:latin typeface="Plus Jakarta Sans"/>
                <a:ea typeface="Plus Jakarta Sans"/>
                <a:cs typeface="Plus Jakarta Sans"/>
                <a:sym typeface="Plus Jakarta Sans"/>
              </a:rPr>
              <a:t>•  High-stakes exams</a:t>
            </a:r>
            <a:r>
              <a:rPr b="0" lang="en-US" sz="1500">
                <a:solidFill>
                  <a:srgbClr val="3A3730"/>
                </a:solidFill>
                <a:latin typeface="Plus Jakarta Sans"/>
                <a:ea typeface="Plus Jakarta Sans"/>
                <a:cs typeface="Plus Jakarta Sans"/>
                <a:sym typeface="Plus Jakarta Sans"/>
              </a:rPr>
              <a:t> measure recall under pressure, not genuine understanding</a:t>
            </a:r>
            <a:endParaRPr/>
          </a:p>
          <a:p>
            <a:pPr indent="0" lvl="0" marL="0" marR="0" rtl="0" algn="l">
              <a:spcBef>
                <a:spcPts val="600"/>
              </a:spcBef>
              <a:spcAft>
                <a:spcPts val="0"/>
              </a:spcAft>
              <a:buNone/>
            </a:pPr>
            <a:r>
              <a:rPr b="1" lang="en-US" sz="1500">
                <a:solidFill>
                  <a:srgbClr val="3A3730"/>
                </a:solidFill>
                <a:latin typeface="Plus Jakarta Sans"/>
                <a:ea typeface="Plus Jakarta Sans"/>
                <a:cs typeface="Plus Jakarta Sans"/>
                <a:sym typeface="Plus Jakarta Sans"/>
              </a:rPr>
              <a:t>•  Rigid formats</a:t>
            </a:r>
            <a:r>
              <a:rPr b="0" lang="en-US" sz="1500">
                <a:solidFill>
                  <a:srgbClr val="3A3730"/>
                </a:solidFill>
                <a:latin typeface="Plus Jakarta Sans"/>
                <a:ea typeface="Plus Jakarta Sans"/>
                <a:cs typeface="Plus Jakarta Sans"/>
                <a:sym typeface="Plus Jakarta Sans"/>
              </a:rPr>
              <a:t> reduce rich learning to multiple choice and short answers</a:t>
            </a:r>
            <a:endParaRPr/>
          </a:p>
          <a:p>
            <a:pPr indent="0" lvl="0" marL="0" marR="0" rtl="0" algn="l">
              <a:spcBef>
                <a:spcPts val="600"/>
              </a:spcBef>
              <a:spcAft>
                <a:spcPts val="0"/>
              </a:spcAft>
              <a:buNone/>
            </a:pPr>
            <a:r>
              <a:rPr b="1" lang="en-US" sz="1500">
                <a:solidFill>
                  <a:srgbClr val="3A3730"/>
                </a:solidFill>
                <a:latin typeface="Plus Jakarta Sans"/>
                <a:ea typeface="Plus Jakarta Sans"/>
                <a:cs typeface="Plus Jakarta Sans"/>
                <a:sym typeface="Plus Jakarta Sans"/>
              </a:rPr>
              <a:t>•  No reasoning visibility</a:t>
            </a:r>
            <a:r>
              <a:rPr b="0" lang="en-US" sz="1500">
                <a:solidFill>
                  <a:srgbClr val="3A3730"/>
                </a:solidFill>
                <a:latin typeface="Plus Jakarta Sans"/>
                <a:ea typeface="Plus Jakarta Sans"/>
                <a:cs typeface="Plus Jakarta Sans"/>
                <a:sym typeface="Plus Jakarta Sans"/>
              </a:rPr>
              <a:t> — educators see scores, never thought processes</a:t>
            </a:r>
            <a:endParaRPr/>
          </a:p>
          <a:p>
            <a:pPr indent="0" lvl="0" marL="0" marR="0" rtl="0" algn="l">
              <a:spcBef>
                <a:spcPts val="600"/>
              </a:spcBef>
              <a:spcAft>
                <a:spcPts val="0"/>
              </a:spcAft>
              <a:buNone/>
            </a:pPr>
            <a:r>
              <a:rPr b="1" lang="en-US" sz="1500">
                <a:solidFill>
                  <a:srgbClr val="3A3730"/>
                </a:solidFill>
                <a:latin typeface="Plus Jakarta Sans"/>
                <a:ea typeface="Plus Jakarta Sans"/>
                <a:cs typeface="Plus Jakarta Sans"/>
                <a:sym typeface="Plus Jakarta Sans"/>
              </a:rPr>
              <a:t>•  Student anxiety</a:t>
            </a:r>
            <a:r>
              <a:rPr b="0" lang="en-US" sz="1500">
                <a:solidFill>
                  <a:srgbClr val="3A3730"/>
                </a:solidFill>
                <a:latin typeface="Plus Jakarta Sans"/>
                <a:ea typeface="Plus Jakarta Sans"/>
                <a:cs typeface="Plus Jakarta Sans"/>
                <a:sym typeface="Plus Jakarta Sans"/>
              </a:rPr>
              <a:t> distorts performance and undermines learning outcomes</a:t>
            </a:r>
            <a:endParaRPr/>
          </a:p>
        </p:txBody>
      </p:sp>
      <p:sp>
        <p:nvSpPr>
          <p:cNvPr id="107" name="Google Shape;107;p2"/>
          <p:cNvSpPr/>
          <p:nvPr/>
        </p:nvSpPr>
        <p:spPr>
          <a:xfrm>
            <a:off x="6400800" y="1874520"/>
            <a:ext cx="4754880" cy="292608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C85A32"/>
                </a:solidFill>
                <a:latin typeface="Plus Jakarta Sans"/>
                <a:ea typeface="Plus Jakarta Sans"/>
                <a:cs typeface="Plus Jakarta Sans"/>
                <a:sym typeface="Plus Jakarta Sans"/>
              </a:rPr>
              <a:t>THE GAP</a:t>
            </a:r>
            <a:endParaRPr/>
          </a:p>
          <a:p>
            <a:pPr indent="0" lvl="0" marL="0" marR="0" rtl="0" algn="l">
              <a:spcBef>
                <a:spcPts val="800"/>
              </a:spcBef>
              <a:spcAft>
                <a:spcPts val="0"/>
              </a:spcAft>
              <a:buNone/>
            </a:pPr>
            <a:r>
              <a:rPr b="0" lang="en-US" sz="1500">
                <a:solidFill>
                  <a:srgbClr val="3A3730"/>
                </a:solidFill>
                <a:latin typeface="Plus Jakarta Sans"/>
                <a:ea typeface="Plus Jakarta Sans"/>
                <a:cs typeface="Plus Jakarta Sans"/>
                <a:sym typeface="Plus Jakarta Sans"/>
              </a:rPr>
              <a:t>Universities need assessments that reveal how students think — not just what they remember.</a:t>
            </a:r>
            <a:endParaRPr/>
          </a:p>
          <a:p>
            <a:pPr indent="0" lvl="0" marL="0" marR="0" rtl="0" algn="l">
              <a:spcBef>
                <a:spcPts val="1000"/>
              </a:spcBef>
              <a:spcAft>
                <a:spcPts val="0"/>
              </a:spcAft>
              <a:buNone/>
            </a:pPr>
            <a:r>
              <a:rPr b="0" lang="en-US" sz="1500">
                <a:solidFill>
                  <a:srgbClr val="3A3730"/>
                </a:solidFill>
                <a:latin typeface="Plus Jakarta Sans"/>
                <a:ea typeface="Plus Jakarta Sans"/>
                <a:cs typeface="Plus Jakarta Sans"/>
                <a:sym typeface="Plus Jakarta Sans"/>
              </a:rPr>
              <a:t>Current tools offer no middle ground between hand-graded essays and automated quizzes.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12" name="Shape 112"/>
        <p:cNvGrpSpPr/>
        <p:nvPr/>
      </p:nvGrpSpPr>
      <p:grpSpPr>
        <a:xfrm>
          <a:off x="0" y="0"/>
          <a:ext cx="0" cy="0"/>
          <a:chOff x="0" y="0"/>
          <a:chExt cx="0" cy="0"/>
        </a:xfrm>
      </p:grpSpPr>
      <p:sp>
        <p:nvSpPr>
          <p:cNvPr id="113" name="Google Shape;113;p3"/>
          <p:cNvSpPr txBox="1"/>
          <p:nvPr/>
        </p:nvSpPr>
        <p:spPr>
          <a:xfrm>
            <a:off x="731520" y="548640"/>
            <a:ext cx="1069848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rgbClr val="C85A32"/>
                </a:solidFill>
                <a:latin typeface="Plus Jakarta Sans"/>
                <a:ea typeface="Plus Jakarta Sans"/>
                <a:cs typeface="Plus Jakarta Sans"/>
                <a:sym typeface="Plus Jakarta Sans"/>
              </a:rPr>
              <a:t>OUR SOLUTION</a:t>
            </a:r>
            <a:endParaRPr/>
          </a:p>
        </p:txBody>
      </p:sp>
      <p:sp>
        <p:nvSpPr>
          <p:cNvPr id="114" name="Google Shape;114;p3"/>
          <p:cNvSpPr txBox="1"/>
          <p:nvPr/>
        </p:nvSpPr>
        <p:spPr>
          <a:xfrm>
            <a:off x="731520" y="960120"/>
            <a:ext cx="1069848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1E1C18"/>
                </a:solidFill>
                <a:latin typeface="Plus Jakarta Sans"/>
                <a:ea typeface="Plus Jakarta Sans"/>
                <a:cs typeface="Plus Jakarta Sans"/>
                <a:sym typeface="Plus Jakarta Sans"/>
              </a:rPr>
              <a:t>Assessment Through Interactive Narrative</a:t>
            </a:r>
            <a:endParaRPr/>
          </a:p>
        </p:txBody>
      </p:sp>
      <p:sp>
        <p:nvSpPr>
          <p:cNvPr id="115" name="Google Shape;115;p3"/>
          <p:cNvSpPr/>
          <p:nvPr/>
        </p:nvSpPr>
        <p:spPr>
          <a:xfrm>
            <a:off x="731520" y="1554480"/>
            <a:ext cx="1005840" cy="63500"/>
          </a:xfrm>
          <a:prstGeom prst="rect">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3"/>
          <p:cNvSpPr txBox="1"/>
          <p:nvPr/>
        </p:nvSpPr>
        <p:spPr>
          <a:xfrm>
            <a:off x="731520" y="1874520"/>
            <a:ext cx="5029200" cy="3840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500">
                <a:solidFill>
                  <a:srgbClr val="3A3730"/>
                </a:solidFill>
                <a:latin typeface="Plus Jakarta Sans"/>
                <a:ea typeface="Plus Jakarta Sans"/>
                <a:cs typeface="Plus Jakarta Sans"/>
                <a:sym typeface="Plus Jakarta Sans"/>
              </a:rPr>
              <a:t>Cervantes transforms assessment into Visual Novel experiences — curriculum-aligned, AI-generated scenarios where students demonstrate understanding through dialogue and decision-making.</a:t>
            </a:r>
            <a:endParaRPr/>
          </a:p>
          <a:p>
            <a:pPr indent="0" lvl="0" marL="0" marR="0" rtl="0" algn="l">
              <a:spcBef>
                <a:spcPts val="1800"/>
              </a:spcBef>
              <a:spcAft>
                <a:spcPts val="0"/>
              </a:spcAft>
              <a:buNone/>
            </a:pPr>
            <a:r>
              <a:rPr b="1" lang="en-US" sz="1400">
                <a:solidFill>
                  <a:srgbClr val="C85A32"/>
                </a:solidFill>
                <a:latin typeface="Plus Jakarta Sans"/>
                <a:ea typeface="Plus Jakarta Sans"/>
                <a:cs typeface="Plus Jakarta Sans"/>
                <a:sym typeface="Plus Jakarta Sans"/>
              </a:rPr>
              <a:t>1. </a:t>
            </a:r>
            <a:r>
              <a:rPr b="1" lang="en-US" sz="1400">
                <a:solidFill>
                  <a:srgbClr val="1E1C18"/>
                </a:solidFill>
                <a:latin typeface="Plus Jakarta Sans"/>
                <a:ea typeface="Plus Jakarta Sans"/>
                <a:cs typeface="Plus Jakarta Sans"/>
                <a:sym typeface="Plus Jakarta Sans"/>
              </a:rPr>
              <a:t>Narrative Immersion</a:t>
            </a:r>
            <a:endParaRPr/>
          </a:p>
          <a:p>
            <a:pPr indent="0" lvl="0" marL="0" marR="0" rtl="0" algn="l">
              <a:spcBef>
                <a:spcPts val="200"/>
              </a:spcBef>
              <a:spcAft>
                <a:spcPts val="0"/>
              </a:spcAft>
              <a:buNone/>
            </a:pPr>
            <a:r>
              <a:rPr b="0" lang="en-US" sz="1200">
                <a:solidFill>
                  <a:srgbClr val="3A3730"/>
                </a:solidFill>
                <a:latin typeface="Plus Jakarta Sans"/>
                <a:ea typeface="Plus Jakarta Sans"/>
                <a:cs typeface="Plus Jakarta Sans"/>
                <a:sym typeface="Plus Jakarta Sans"/>
              </a:rPr>
              <a:t>     Students engage with characters and scenarios, not question sheets</a:t>
            </a:r>
            <a:endParaRPr/>
          </a:p>
          <a:p>
            <a:pPr indent="0" lvl="0" marL="0" marR="0" rtl="0" algn="l">
              <a:spcBef>
                <a:spcPts val="1200"/>
              </a:spcBef>
              <a:spcAft>
                <a:spcPts val="0"/>
              </a:spcAft>
              <a:buNone/>
            </a:pPr>
            <a:r>
              <a:rPr b="1" lang="en-US" sz="1400">
                <a:solidFill>
                  <a:srgbClr val="C85A32"/>
                </a:solidFill>
                <a:latin typeface="Plus Jakarta Sans"/>
                <a:ea typeface="Plus Jakarta Sans"/>
                <a:cs typeface="Plus Jakarta Sans"/>
                <a:sym typeface="Plus Jakarta Sans"/>
              </a:rPr>
              <a:t>2. </a:t>
            </a:r>
            <a:r>
              <a:rPr b="1" lang="en-US" sz="1400">
                <a:solidFill>
                  <a:srgbClr val="1E1C18"/>
                </a:solidFill>
                <a:latin typeface="Plus Jakarta Sans"/>
                <a:ea typeface="Plus Jakarta Sans"/>
                <a:cs typeface="Plus Jakarta Sans"/>
                <a:sym typeface="Plus Jakarta Sans"/>
              </a:rPr>
              <a:t>Socratic Questioning</a:t>
            </a:r>
            <a:endParaRPr/>
          </a:p>
          <a:p>
            <a:pPr indent="0" lvl="0" marL="0" marR="0" rtl="0" algn="l">
              <a:spcBef>
                <a:spcPts val="200"/>
              </a:spcBef>
              <a:spcAft>
                <a:spcPts val="0"/>
              </a:spcAft>
              <a:buNone/>
            </a:pPr>
            <a:r>
              <a:rPr b="0" lang="en-US" sz="1200">
                <a:solidFill>
                  <a:srgbClr val="3A3730"/>
                </a:solidFill>
                <a:latin typeface="Plus Jakarta Sans"/>
                <a:ea typeface="Plus Jakarta Sans"/>
                <a:cs typeface="Plus Jakarta Sans"/>
                <a:sym typeface="Plus Jakarta Sans"/>
              </a:rPr>
              <a:t>     AI-driven dialogue probes understanding at natural checkpoints</a:t>
            </a:r>
            <a:endParaRPr/>
          </a:p>
          <a:p>
            <a:pPr indent="0" lvl="0" marL="0" marR="0" rtl="0" algn="l">
              <a:spcBef>
                <a:spcPts val="1200"/>
              </a:spcBef>
              <a:spcAft>
                <a:spcPts val="0"/>
              </a:spcAft>
              <a:buNone/>
            </a:pPr>
            <a:r>
              <a:rPr b="1" lang="en-US" sz="1400">
                <a:solidFill>
                  <a:srgbClr val="C85A32"/>
                </a:solidFill>
                <a:latin typeface="Plus Jakarta Sans"/>
                <a:ea typeface="Plus Jakarta Sans"/>
                <a:cs typeface="Plus Jakarta Sans"/>
                <a:sym typeface="Plus Jakarta Sans"/>
              </a:rPr>
              <a:t>3. </a:t>
            </a:r>
            <a:r>
              <a:rPr b="1" lang="en-US" sz="1400">
                <a:solidFill>
                  <a:srgbClr val="1E1C18"/>
                </a:solidFill>
                <a:latin typeface="Plus Jakarta Sans"/>
                <a:ea typeface="Plus Jakarta Sans"/>
                <a:cs typeface="Plus Jakarta Sans"/>
                <a:sym typeface="Plus Jakarta Sans"/>
              </a:rPr>
              <a:t>Reasoning Traces</a:t>
            </a:r>
            <a:endParaRPr/>
          </a:p>
          <a:p>
            <a:pPr indent="0" lvl="0" marL="0" marR="0" rtl="0" algn="l">
              <a:spcBef>
                <a:spcPts val="200"/>
              </a:spcBef>
              <a:spcAft>
                <a:spcPts val="0"/>
              </a:spcAft>
              <a:buNone/>
            </a:pPr>
            <a:r>
              <a:rPr b="0" lang="en-US" sz="1200">
                <a:solidFill>
                  <a:srgbClr val="3A3730"/>
                </a:solidFill>
                <a:latin typeface="Plus Jakarta Sans"/>
                <a:ea typeface="Plus Jakarta Sans"/>
                <a:cs typeface="Plus Jakarta Sans"/>
                <a:sym typeface="Plus Jakarta Sans"/>
              </a:rPr>
              <a:t>     Every decision path is captured, giving educators deep insight</a:t>
            </a:r>
            <a:endParaRPr/>
          </a:p>
        </p:txBody>
      </p:sp>
      <p:sp>
        <p:nvSpPr>
          <p:cNvPr id="117" name="Google Shape;117;p3"/>
          <p:cNvSpPr/>
          <p:nvPr/>
        </p:nvSpPr>
        <p:spPr>
          <a:xfrm>
            <a:off x="6400800" y="1874520"/>
            <a:ext cx="4754880" cy="256032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rgbClr val="1E1C18"/>
                </a:solidFill>
                <a:latin typeface="Plus Jakarta Sans"/>
                <a:ea typeface="Plus Jakarta Sans"/>
                <a:cs typeface="Plus Jakarta Sans"/>
                <a:sym typeface="Plus Jakarta Sans"/>
              </a:rPr>
              <a:t>Textbook → Interactive Story → Rich Analytics</a:t>
            </a:r>
            <a:endParaRPr/>
          </a:p>
          <a:p>
            <a:pPr indent="0" lvl="0" marL="0" marR="0" rtl="0" algn="ctr">
              <a:spcBef>
                <a:spcPts val="1000"/>
              </a:spcBef>
              <a:spcAft>
                <a:spcPts val="0"/>
              </a:spcAft>
              <a:buNone/>
            </a:pPr>
            <a:r>
              <a:rPr b="0" lang="en-US" sz="1400">
                <a:solidFill>
                  <a:srgbClr val="3A3730"/>
                </a:solidFill>
                <a:latin typeface="Plus Jakarta Sans"/>
                <a:ea typeface="Plus Jakarta Sans"/>
                <a:cs typeface="Plus Jakarta Sans"/>
                <a:sym typeface="Plus Jakarta Sans"/>
              </a:rPr>
              <a:t>Textbook content becomes interactive story, producing rich analytics</a:t>
            </a:r>
            <a:endParaRPr/>
          </a:p>
        </p:txBody>
      </p:sp>
      <p:sp>
        <p:nvSpPr>
          <p:cNvPr id="118" name="Google Shape;118;p3"/>
          <p:cNvSpPr/>
          <p:nvPr/>
        </p:nvSpPr>
        <p:spPr>
          <a:xfrm>
            <a:off x="6254750" y="4709160"/>
            <a:ext cx="2249424" cy="320040"/>
          </a:xfrm>
          <a:prstGeom prst="roundRect">
            <a:avLst>
              <a:gd fmla="val 16667" name="adj"/>
            </a:avLst>
          </a:prstGeom>
          <a:solidFill>
            <a:srgbClr val="C4A24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1E1C18"/>
                </a:solidFill>
                <a:latin typeface="Plus Jakarta Sans"/>
                <a:ea typeface="Plus Jakarta Sans"/>
                <a:cs typeface="Plus Jakarta Sans"/>
                <a:sym typeface="Plus Jakarta Sans"/>
              </a:rPr>
              <a:t>Curriculum-Aligned</a:t>
            </a:r>
            <a:endParaRPr/>
          </a:p>
        </p:txBody>
      </p:sp>
      <p:sp>
        <p:nvSpPr>
          <p:cNvPr id="119" name="Google Shape;119;p3"/>
          <p:cNvSpPr/>
          <p:nvPr/>
        </p:nvSpPr>
        <p:spPr>
          <a:xfrm>
            <a:off x="8641334" y="4709160"/>
            <a:ext cx="1591056" cy="320040"/>
          </a:xfrm>
          <a:prstGeom prst="roundRect">
            <a:avLst>
              <a:gd fmla="val 16667" name="adj"/>
            </a:avLst>
          </a:prstGeom>
          <a:solidFill>
            <a:srgbClr val="C4A24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1E1C18"/>
                </a:solidFill>
                <a:latin typeface="Plus Jakarta Sans"/>
                <a:ea typeface="Plus Jakarta Sans"/>
                <a:cs typeface="Plus Jakarta Sans"/>
                <a:sym typeface="Plus Jakarta Sans"/>
              </a:rPr>
              <a:t>AI-Generated</a:t>
            </a:r>
            <a:endParaRPr/>
          </a:p>
        </p:txBody>
      </p:sp>
      <p:sp>
        <p:nvSpPr>
          <p:cNvPr id="120" name="Google Shape;120;p3"/>
          <p:cNvSpPr/>
          <p:nvPr/>
        </p:nvSpPr>
        <p:spPr>
          <a:xfrm>
            <a:off x="10369550" y="4709160"/>
            <a:ext cx="1261872" cy="320040"/>
          </a:xfrm>
          <a:prstGeom prst="roundRect">
            <a:avLst>
              <a:gd fmla="val 16667" name="adj"/>
            </a:avLst>
          </a:prstGeom>
          <a:solidFill>
            <a:srgbClr val="C4A24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1E1C18"/>
                </a:solidFill>
                <a:latin typeface="Plus Jakarta Sans"/>
                <a:ea typeface="Plus Jakarta Sans"/>
                <a:cs typeface="Plus Jakarta Sans"/>
                <a:sym typeface="Plus Jakarta Sans"/>
              </a:rPr>
              <a:t>Real-Time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25" name="Shape 125"/>
        <p:cNvGrpSpPr/>
        <p:nvPr/>
      </p:nvGrpSpPr>
      <p:grpSpPr>
        <a:xfrm>
          <a:off x="0" y="0"/>
          <a:ext cx="0" cy="0"/>
          <a:chOff x="0" y="0"/>
          <a:chExt cx="0" cy="0"/>
        </a:xfrm>
      </p:grpSpPr>
      <p:sp>
        <p:nvSpPr>
          <p:cNvPr id="126" name="Google Shape;126;p4"/>
          <p:cNvSpPr txBox="1"/>
          <p:nvPr/>
        </p:nvSpPr>
        <p:spPr>
          <a:xfrm>
            <a:off x="731520" y="548640"/>
            <a:ext cx="1069848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rgbClr val="C85A32"/>
                </a:solidFill>
                <a:latin typeface="Plus Jakarta Sans"/>
                <a:ea typeface="Plus Jakarta Sans"/>
                <a:cs typeface="Plus Jakarta Sans"/>
                <a:sym typeface="Plus Jakarta Sans"/>
              </a:rPr>
              <a:t>TEACHER FLOW</a:t>
            </a:r>
            <a:endParaRPr/>
          </a:p>
        </p:txBody>
      </p:sp>
      <p:sp>
        <p:nvSpPr>
          <p:cNvPr id="127" name="Google Shape;127;p4"/>
          <p:cNvSpPr txBox="1"/>
          <p:nvPr/>
        </p:nvSpPr>
        <p:spPr>
          <a:xfrm>
            <a:off x="731520" y="960120"/>
            <a:ext cx="1069848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1E1C18"/>
                </a:solidFill>
                <a:latin typeface="Plus Jakarta Sans"/>
                <a:ea typeface="Plus Jakarta Sans"/>
                <a:cs typeface="Plus Jakarta Sans"/>
                <a:sym typeface="Plus Jakarta Sans"/>
              </a:rPr>
              <a:t>From Curriculum to Classroom in Minutes</a:t>
            </a:r>
            <a:endParaRPr/>
          </a:p>
        </p:txBody>
      </p:sp>
      <p:sp>
        <p:nvSpPr>
          <p:cNvPr id="128" name="Google Shape;128;p4"/>
          <p:cNvSpPr/>
          <p:nvPr/>
        </p:nvSpPr>
        <p:spPr>
          <a:xfrm>
            <a:off x="731520" y="1554480"/>
            <a:ext cx="1005840" cy="63500"/>
          </a:xfrm>
          <a:prstGeom prst="rect">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4"/>
          <p:cNvSpPr txBox="1"/>
          <p:nvPr/>
        </p:nvSpPr>
        <p:spPr>
          <a:xfrm>
            <a:off x="731520" y="1874520"/>
            <a:ext cx="5029200" cy="411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600"/>
              </a:spcBef>
              <a:spcAft>
                <a:spcPts val="0"/>
              </a:spcAft>
              <a:buNone/>
            </a:pPr>
            <a:r>
              <a:rPr b="1" lang="en-US" sz="1400">
                <a:solidFill>
                  <a:srgbClr val="C85A32"/>
                </a:solidFill>
                <a:latin typeface="Plus Jakarta Sans"/>
                <a:ea typeface="Plus Jakarta Sans"/>
                <a:cs typeface="Plus Jakarta Sans"/>
                <a:sym typeface="Plus Jakarta Sans"/>
              </a:rPr>
              <a:t>1. </a:t>
            </a:r>
            <a:r>
              <a:rPr b="1" lang="en-US" sz="1400">
                <a:solidFill>
                  <a:srgbClr val="1E1C18"/>
                </a:solidFill>
                <a:latin typeface="Plus Jakarta Sans"/>
                <a:ea typeface="Plus Jakarta Sans"/>
                <a:cs typeface="Plus Jakarta Sans"/>
                <a:sym typeface="Plus Jakarta Sans"/>
              </a:rPr>
              <a:t>Upload Materials</a:t>
            </a:r>
            <a:endParaRPr/>
          </a:p>
          <a:p>
            <a:pPr indent="0" lvl="0" marL="0" marR="0" rtl="0" algn="l">
              <a:spcBef>
                <a:spcPts val="200"/>
              </a:spcBef>
              <a:spcAft>
                <a:spcPts val="0"/>
              </a:spcAft>
              <a:buNone/>
            </a:pPr>
            <a:r>
              <a:rPr b="0" lang="en-US" sz="1200">
                <a:solidFill>
                  <a:srgbClr val="3A3730"/>
                </a:solidFill>
                <a:latin typeface="Plus Jakarta Sans"/>
                <a:ea typeface="Plus Jakarta Sans"/>
                <a:cs typeface="Plus Jakarta Sans"/>
                <a:sym typeface="Plus Jakarta Sans"/>
              </a:rPr>
              <a:t>     Subject, module, concept targets, rubric focus (PDF / DOCX / TXT)</a:t>
            </a:r>
            <a:endParaRPr/>
          </a:p>
          <a:p>
            <a:pPr indent="0" lvl="0" marL="0" marR="0" rtl="0" algn="l">
              <a:spcBef>
                <a:spcPts val="1200"/>
              </a:spcBef>
              <a:spcAft>
                <a:spcPts val="0"/>
              </a:spcAft>
              <a:buNone/>
            </a:pPr>
            <a:r>
              <a:rPr b="1" lang="en-US" sz="1400">
                <a:solidFill>
                  <a:srgbClr val="C85A32"/>
                </a:solidFill>
                <a:latin typeface="Plus Jakarta Sans"/>
                <a:ea typeface="Plus Jakarta Sans"/>
                <a:cs typeface="Plus Jakarta Sans"/>
                <a:sym typeface="Plus Jakarta Sans"/>
              </a:rPr>
              <a:t>2. </a:t>
            </a:r>
            <a:r>
              <a:rPr b="1" lang="en-US" sz="1400">
                <a:solidFill>
                  <a:srgbClr val="1E1C18"/>
                </a:solidFill>
                <a:latin typeface="Plus Jakarta Sans"/>
                <a:ea typeface="Plus Jakarta Sans"/>
                <a:cs typeface="Plus Jakarta Sans"/>
                <a:sym typeface="Plus Jakarta Sans"/>
              </a:rPr>
              <a:t>CurricuLLM Alignment</a:t>
            </a:r>
            <a:endParaRPr/>
          </a:p>
          <a:p>
            <a:pPr indent="0" lvl="0" marL="0" marR="0" rtl="0" algn="l">
              <a:spcBef>
                <a:spcPts val="200"/>
              </a:spcBef>
              <a:spcAft>
                <a:spcPts val="0"/>
              </a:spcAft>
              <a:buNone/>
            </a:pPr>
            <a:r>
              <a:rPr b="0" lang="en-US" sz="1200">
                <a:solidFill>
                  <a:srgbClr val="3A3730"/>
                </a:solidFill>
                <a:latin typeface="Plus Jakarta Sans"/>
                <a:ea typeface="Plus Jakarta Sans"/>
                <a:cs typeface="Plus Jakarta Sans"/>
                <a:sym typeface="Plus Jakarta Sans"/>
              </a:rPr>
              <a:t>     Auto-maps content to Australian curriculum standards and rubric structure</a:t>
            </a:r>
            <a:endParaRPr/>
          </a:p>
          <a:p>
            <a:pPr indent="0" lvl="0" marL="0" marR="0" rtl="0" algn="l">
              <a:spcBef>
                <a:spcPts val="1200"/>
              </a:spcBef>
              <a:spcAft>
                <a:spcPts val="0"/>
              </a:spcAft>
              <a:buNone/>
            </a:pPr>
            <a:r>
              <a:rPr b="1" lang="en-US" sz="1400">
                <a:solidFill>
                  <a:srgbClr val="C85A32"/>
                </a:solidFill>
                <a:latin typeface="Plus Jakarta Sans"/>
                <a:ea typeface="Plus Jakarta Sans"/>
                <a:cs typeface="Plus Jakarta Sans"/>
                <a:sym typeface="Plus Jakarta Sans"/>
              </a:rPr>
              <a:t>3. </a:t>
            </a:r>
            <a:r>
              <a:rPr b="1" lang="en-US" sz="1400">
                <a:solidFill>
                  <a:srgbClr val="1E1C18"/>
                </a:solidFill>
                <a:latin typeface="Plus Jakarta Sans"/>
                <a:ea typeface="Plus Jakarta Sans"/>
                <a:cs typeface="Plus Jakarta Sans"/>
                <a:sym typeface="Plus Jakarta Sans"/>
              </a:rPr>
              <a:t>Narrative Generation</a:t>
            </a:r>
            <a:endParaRPr/>
          </a:p>
          <a:p>
            <a:pPr indent="0" lvl="0" marL="0" marR="0" rtl="0" algn="l">
              <a:spcBef>
                <a:spcPts val="200"/>
              </a:spcBef>
              <a:spcAft>
                <a:spcPts val="0"/>
              </a:spcAft>
              <a:buNone/>
            </a:pPr>
            <a:r>
              <a:rPr b="0" lang="en-US" sz="1200">
                <a:solidFill>
                  <a:srgbClr val="3A3730"/>
                </a:solidFill>
                <a:latin typeface="Plus Jakarta Sans"/>
                <a:ea typeface="Plus Jakarta Sans"/>
                <a:cs typeface="Plus Jakarta Sans"/>
                <a:sym typeface="Plus Jakarta Sans"/>
              </a:rPr>
              <a:t>     Gemini builds scenes, characters, Socratic checkpoints, and branching dialogue</a:t>
            </a:r>
            <a:endParaRPr/>
          </a:p>
          <a:p>
            <a:pPr indent="0" lvl="0" marL="0" marR="0" rtl="0" algn="l">
              <a:spcBef>
                <a:spcPts val="1200"/>
              </a:spcBef>
              <a:spcAft>
                <a:spcPts val="0"/>
              </a:spcAft>
              <a:buNone/>
            </a:pPr>
            <a:r>
              <a:rPr b="1" lang="en-US" sz="1400">
                <a:solidFill>
                  <a:srgbClr val="C85A32"/>
                </a:solidFill>
                <a:latin typeface="Plus Jakarta Sans"/>
                <a:ea typeface="Plus Jakarta Sans"/>
                <a:cs typeface="Plus Jakarta Sans"/>
                <a:sym typeface="Plus Jakarta Sans"/>
              </a:rPr>
              <a:t>4. </a:t>
            </a:r>
            <a:r>
              <a:rPr b="1" lang="en-US" sz="1400">
                <a:solidFill>
                  <a:srgbClr val="1E1C18"/>
                </a:solidFill>
                <a:latin typeface="Plus Jakarta Sans"/>
                <a:ea typeface="Plus Jakarta Sans"/>
                <a:cs typeface="Plus Jakarta Sans"/>
                <a:sym typeface="Plus Jakarta Sans"/>
              </a:rPr>
              <a:t>Review &amp; Publish</a:t>
            </a:r>
            <a:endParaRPr/>
          </a:p>
          <a:p>
            <a:pPr indent="0" lvl="0" marL="0" marR="0" rtl="0" algn="l">
              <a:spcBef>
                <a:spcPts val="200"/>
              </a:spcBef>
              <a:spcAft>
                <a:spcPts val="0"/>
              </a:spcAft>
              <a:buNone/>
            </a:pPr>
            <a:r>
              <a:rPr b="0" lang="en-US" sz="1200">
                <a:solidFill>
                  <a:srgbClr val="3A3730"/>
                </a:solidFill>
                <a:latin typeface="Plus Jakarta Sans"/>
                <a:ea typeface="Plus Jakarta Sans"/>
                <a:cs typeface="Plus Jakarta Sans"/>
                <a:sym typeface="Plus Jakarta Sans"/>
              </a:rPr>
              <a:t>     Approve the arc, assign to classes, and monitor live progress</a:t>
            </a:r>
            <a:endParaRPr/>
          </a:p>
        </p:txBody>
      </p:sp>
      <p:sp>
        <p:nvSpPr>
          <p:cNvPr id="130" name="Google Shape;130;p4"/>
          <p:cNvSpPr/>
          <p:nvPr/>
        </p:nvSpPr>
        <p:spPr>
          <a:xfrm>
            <a:off x="6400800" y="1874520"/>
            <a:ext cx="4754880" cy="3200400"/>
          </a:xfrm>
          <a:prstGeom prst="roundRect">
            <a:avLst>
              <a:gd fmla="val 16667" name="adj"/>
            </a:avLst>
          </a:prstGeom>
          <a:solidFill>
            <a:srgbClr val="2A2720"/>
          </a:solidFill>
          <a:ln cap="flat" cmpd="sng" w="19050">
            <a:solidFill>
              <a:srgbClr val="C4A245"/>
            </a:solidFill>
            <a:prstDash val="dash"/>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600">
                <a:solidFill>
                  <a:srgbClr val="C85A32"/>
                </a:solidFill>
                <a:latin typeface="Plus Jakarta Sans"/>
                <a:ea typeface="Plus Jakarta Sans"/>
                <a:cs typeface="Plus Jakarta Sans"/>
                <a:sym typeface="Plus Jakarta Sans"/>
              </a:rPr>
              <a:t>▶</a:t>
            </a:r>
            <a:endParaRPr/>
          </a:p>
          <a:p>
            <a:pPr indent="0" lvl="0" marL="0" marR="0" rtl="0" algn="ctr">
              <a:spcBef>
                <a:spcPts val="0"/>
              </a:spcBef>
              <a:spcAft>
                <a:spcPts val="0"/>
              </a:spcAft>
              <a:buNone/>
            </a:pPr>
            <a:r>
              <a:rPr b="1" lang="en-US" sz="1200">
                <a:solidFill>
                  <a:srgbClr val="C4A245"/>
                </a:solidFill>
                <a:latin typeface="Plus Jakarta Sans"/>
                <a:ea typeface="Plus Jakarta Sans"/>
                <a:cs typeface="Plus Jakarta Sans"/>
                <a:sym typeface="Plus Jakarta Sans"/>
              </a:rPr>
              <a:t>VIDEO OF TEACHER DASHBOARD DEMO GOES HERE</a:t>
            </a:r>
            <a:endParaRPr/>
          </a:p>
        </p:txBody>
      </p:sp>
      <p:pic>
        <p:nvPicPr>
          <p:cNvPr id="131" name="Google Shape;131;p4"/>
          <p:cNvPicPr preferRelativeResize="0"/>
          <p:nvPr/>
        </p:nvPicPr>
        <p:blipFill rotWithShape="1">
          <a:blip r:embed="rId3">
            <a:alphaModFix/>
          </a:blip>
          <a:srcRect b="0" l="7868" r="5394" t="4011"/>
          <a:stretch/>
        </p:blipFill>
        <p:spPr>
          <a:xfrm>
            <a:off x="5913802" y="1586230"/>
            <a:ext cx="5728876" cy="35661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C18"/>
        </a:solidFill>
      </p:bgPr>
    </p:bg>
    <p:spTree>
      <p:nvGrpSpPr>
        <p:cNvPr id="136" name="Shape 136"/>
        <p:cNvGrpSpPr/>
        <p:nvPr/>
      </p:nvGrpSpPr>
      <p:grpSpPr>
        <a:xfrm>
          <a:off x="0" y="0"/>
          <a:ext cx="0" cy="0"/>
          <a:chOff x="0" y="0"/>
          <a:chExt cx="0" cy="0"/>
        </a:xfrm>
      </p:grpSpPr>
      <p:sp>
        <p:nvSpPr>
          <p:cNvPr id="137" name="Google Shape;137;p5"/>
          <p:cNvSpPr txBox="1"/>
          <p:nvPr/>
        </p:nvSpPr>
        <p:spPr>
          <a:xfrm>
            <a:off x="731520" y="548640"/>
            <a:ext cx="1069848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rgbClr val="C4A245"/>
                </a:solidFill>
                <a:latin typeface="Plus Jakarta Sans"/>
                <a:ea typeface="Plus Jakarta Sans"/>
                <a:cs typeface="Plus Jakarta Sans"/>
                <a:sym typeface="Plus Jakarta Sans"/>
              </a:rPr>
              <a:t>STUDENT EXPERIENCE</a:t>
            </a:r>
            <a:endParaRPr/>
          </a:p>
        </p:txBody>
      </p:sp>
      <p:sp>
        <p:nvSpPr>
          <p:cNvPr id="138" name="Google Shape;138;p5"/>
          <p:cNvSpPr txBox="1"/>
          <p:nvPr/>
        </p:nvSpPr>
        <p:spPr>
          <a:xfrm>
            <a:off x="731520" y="960120"/>
            <a:ext cx="1069848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4F1EA"/>
                </a:solidFill>
                <a:latin typeface="Plus Jakarta Sans"/>
                <a:ea typeface="Plus Jakarta Sans"/>
                <a:cs typeface="Plus Jakarta Sans"/>
                <a:sym typeface="Plus Jakarta Sans"/>
              </a:rPr>
              <a:t>Learn by Living the Story</a:t>
            </a:r>
            <a:endParaRPr/>
          </a:p>
        </p:txBody>
      </p:sp>
      <p:sp>
        <p:nvSpPr>
          <p:cNvPr id="139" name="Google Shape;139;p5"/>
          <p:cNvSpPr/>
          <p:nvPr/>
        </p:nvSpPr>
        <p:spPr>
          <a:xfrm>
            <a:off x="731520" y="1554480"/>
            <a:ext cx="1005840" cy="63500"/>
          </a:xfrm>
          <a:prstGeom prst="rect">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5"/>
          <p:cNvSpPr/>
          <p:nvPr/>
        </p:nvSpPr>
        <p:spPr>
          <a:xfrm>
            <a:off x="731520" y="1874520"/>
            <a:ext cx="5029200" cy="3200400"/>
          </a:xfrm>
          <a:prstGeom prst="roundRect">
            <a:avLst>
              <a:gd fmla="val 16667" name="adj"/>
            </a:avLst>
          </a:prstGeom>
          <a:solidFill>
            <a:srgbClr val="2A2720"/>
          </a:solidFill>
          <a:ln cap="flat" cmpd="sng" w="19050">
            <a:solidFill>
              <a:srgbClr val="C4A245"/>
            </a:solidFill>
            <a:prstDash val="dash"/>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600">
                <a:solidFill>
                  <a:srgbClr val="C85A32"/>
                </a:solidFill>
                <a:latin typeface="Plus Jakarta Sans"/>
                <a:ea typeface="Plus Jakarta Sans"/>
                <a:cs typeface="Plus Jakarta Sans"/>
                <a:sym typeface="Plus Jakarta Sans"/>
              </a:rPr>
              <a:t>▶</a:t>
            </a:r>
            <a:endParaRPr/>
          </a:p>
          <a:p>
            <a:pPr indent="0" lvl="0" marL="0" marR="0" rtl="0" algn="ctr">
              <a:spcBef>
                <a:spcPts val="0"/>
              </a:spcBef>
              <a:spcAft>
                <a:spcPts val="0"/>
              </a:spcAft>
              <a:buNone/>
            </a:pPr>
            <a:r>
              <a:rPr b="1" lang="en-US" sz="1200">
                <a:solidFill>
                  <a:srgbClr val="C4A245"/>
                </a:solidFill>
                <a:latin typeface="Plus Jakarta Sans"/>
                <a:ea typeface="Plus Jakarta Sans"/>
                <a:cs typeface="Plus Jakarta Sans"/>
                <a:sym typeface="Plus Jakarta Sans"/>
              </a:rPr>
              <a:t>VIDEO OF STUDENT VN EXPERIENCE GOES HERE</a:t>
            </a:r>
            <a:endParaRPr/>
          </a:p>
        </p:txBody>
      </p:sp>
      <p:sp>
        <p:nvSpPr>
          <p:cNvPr id="141" name="Google Shape;141;p5"/>
          <p:cNvSpPr/>
          <p:nvPr/>
        </p:nvSpPr>
        <p:spPr>
          <a:xfrm>
            <a:off x="6400800" y="1874520"/>
            <a:ext cx="4754880" cy="96012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00">
                <a:solidFill>
                  <a:srgbClr val="C85A32"/>
                </a:solidFill>
                <a:latin typeface="Plus Jakarta Sans"/>
                <a:ea typeface="Plus Jakarta Sans"/>
                <a:cs typeface="Plus Jakarta Sans"/>
                <a:sym typeface="Plus Jakarta Sans"/>
              </a:rPr>
              <a:t>Narrative Immersion</a:t>
            </a:r>
            <a:endParaRPr/>
          </a:p>
          <a:p>
            <a:pPr indent="0" lvl="0" marL="0" marR="0" rtl="0" algn="l">
              <a:spcBef>
                <a:spcPts val="400"/>
              </a:spcBef>
              <a:spcAft>
                <a:spcPts val="0"/>
              </a:spcAft>
              <a:buNone/>
            </a:pPr>
            <a:r>
              <a:rPr b="0" lang="en-US" sz="1100">
                <a:solidFill>
                  <a:srgbClr val="3A3730"/>
                </a:solidFill>
                <a:latin typeface="Plus Jakarta Sans"/>
                <a:ea typeface="Plus Jakarta Sans"/>
                <a:cs typeface="Plus Jakarta Sans"/>
                <a:sym typeface="Plus Jakarta Sans"/>
              </a:rPr>
              <a:t>Characters, scenes, and branching dialogue make assessment feel like gameplay — accessible via PWA on any device</a:t>
            </a:r>
            <a:endParaRPr/>
          </a:p>
        </p:txBody>
      </p:sp>
      <p:sp>
        <p:nvSpPr>
          <p:cNvPr id="142" name="Google Shape;142;p5"/>
          <p:cNvSpPr/>
          <p:nvPr/>
        </p:nvSpPr>
        <p:spPr>
          <a:xfrm>
            <a:off x="6400800" y="2971800"/>
            <a:ext cx="4754880" cy="96012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00">
                <a:solidFill>
                  <a:srgbClr val="C85A32"/>
                </a:solidFill>
                <a:latin typeface="Plus Jakarta Sans"/>
                <a:ea typeface="Plus Jakarta Sans"/>
                <a:cs typeface="Plus Jakarta Sans"/>
                <a:sym typeface="Plus Jakarta Sans"/>
              </a:rPr>
              <a:t>Socratic Checkpoints</a:t>
            </a:r>
            <a:endParaRPr/>
          </a:p>
          <a:p>
            <a:pPr indent="0" lvl="0" marL="0" marR="0" rtl="0" algn="l">
              <a:spcBef>
                <a:spcPts val="400"/>
              </a:spcBef>
              <a:spcAft>
                <a:spcPts val="0"/>
              </a:spcAft>
              <a:buNone/>
            </a:pPr>
            <a:r>
              <a:rPr b="0" lang="en-US" sz="1100">
                <a:solidFill>
                  <a:srgbClr val="3A3730"/>
                </a:solidFill>
                <a:latin typeface="Plus Jakarta Sans"/>
                <a:ea typeface="Plus Jakarta Sans"/>
                <a:cs typeface="Plus Jakarta Sans"/>
                <a:sym typeface="Plus Jakarta Sans"/>
              </a:rPr>
              <a:t>AI-driven questions appear at natural story beats, probing understanding without breaking immersion</a:t>
            </a:r>
            <a:endParaRPr/>
          </a:p>
        </p:txBody>
      </p:sp>
      <p:sp>
        <p:nvSpPr>
          <p:cNvPr id="143" name="Google Shape;143;p5"/>
          <p:cNvSpPr/>
          <p:nvPr/>
        </p:nvSpPr>
        <p:spPr>
          <a:xfrm>
            <a:off x="6400800" y="4069080"/>
            <a:ext cx="4754880" cy="96012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00">
                <a:solidFill>
                  <a:srgbClr val="C85A32"/>
                </a:solidFill>
                <a:latin typeface="Plus Jakarta Sans"/>
                <a:ea typeface="Plus Jakarta Sans"/>
                <a:cs typeface="Plus Jakarta Sans"/>
                <a:sym typeface="Plus Jakarta Sans"/>
              </a:rPr>
              <a:t>Reasoning Journaling</a:t>
            </a:r>
            <a:endParaRPr/>
          </a:p>
          <a:p>
            <a:pPr indent="0" lvl="0" marL="0" marR="0" rtl="0" algn="l">
              <a:spcBef>
                <a:spcPts val="400"/>
              </a:spcBef>
              <a:spcAft>
                <a:spcPts val="0"/>
              </a:spcAft>
              <a:buNone/>
            </a:pPr>
            <a:r>
              <a:rPr b="0" lang="en-US" sz="1100">
                <a:solidFill>
                  <a:srgbClr val="3A3730"/>
                </a:solidFill>
                <a:latin typeface="Plus Jakarta Sans"/>
                <a:ea typeface="Plus Jakarta Sans"/>
                <a:cs typeface="Plus Jakarta Sans"/>
                <a:sym typeface="Plus Jakarta Sans"/>
              </a:rPr>
              <a:t>Every choice, response, and dialogue path is captured in arc_journals and reasoning_traces</a:t>
            </a:r>
            <a:endParaRPr/>
          </a:p>
        </p:txBody>
      </p:sp>
      <p:pic>
        <p:nvPicPr>
          <p:cNvPr id="144" name="Google Shape;144;p5"/>
          <p:cNvPicPr preferRelativeResize="0"/>
          <p:nvPr/>
        </p:nvPicPr>
        <p:blipFill rotWithShape="1">
          <a:blip r:embed="rId3">
            <a:alphaModFix/>
          </a:blip>
          <a:srcRect b="0" l="2773" r="0" t="2618"/>
          <a:stretch/>
        </p:blipFill>
        <p:spPr>
          <a:xfrm>
            <a:off x="590550" y="1874520"/>
            <a:ext cx="5253616" cy="328878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49" name="Shape 149"/>
        <p:cNvGrpSpPr/>
        <p:nvPr/>
      </p:nvGrpSpPr>
      <p:grpSpPr>
        <a:xfrm>
          <a:off x="0" y="0"/>
          <a:ext cx="0" cy="0"/>
          <a:chOff x="0" y="0"/>
          <a:chExt cx="0" cy="0"/>
        </a:xfrm>
      </p:grpSpPr>
      <p:sp>
        <p:nvSpPr>
          <p:cNvPr id="150" name="Google Shape;150;p6"/>
          <p:cNvSpPr txBox="1"/>
          <p:nvPr/>
        </p:nvSpPr>
        <p:spPr>
          <a:xfrm>
            <a:off x="731520" y="548640"/>
            <a:ext cx="1069848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rgbClr val="C85A32"/>
                </a:solidFill>
                <a:latin typeface="Plus Jakarta Sans"/>
                <a:ea typeface="Plus Jakarta Sans"/>
                <a:cs typeface="Plus Jakarta Sans"/>
                <a:sym typeface="Plus Jakarta Sans"/>
              </a:rPr>
              <a:t>INTELLIGENCE LAYER</a:t>
            </a:r>
            <a:endParaRPr/>
          </a:p>
        </p:txBody>
      </p:sp>
      <p:sp>
        <p:nvSpPr>
          <p:cNvPr id="151" name="Google Shape;151;p6"/>
          <p:cNvSpPr txBox="1"/>
          <p:nvPr/>
        </p:nvSpPr>
        <p:spPr>
          <a:xfrm>
            <a:off x="731520" y="960120"/>
            <a:ext cx="1069848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1E1C18"/>
                </a:solidFill>
                <a:latin typeface="Plus Jakarta Sans"/>
                <a:ea typeface="Plus Jakarta Sans"/>
                <a:cs typeface="Plus Jakarta Sans"/>
                <a:sym typeface="Plus Jakarta Sans"/>
              </a:rPr>
              <a:t>AI That Understands Curriculum and Cognition</a:t>
            </a:r>
            <a:endParaRPr/>
          </a:p>
        </p:txBody>
      </p:sp>
      <p:sp>
        <p:nvSpPr>
          <p:cNvPr id="152" name="Google Shape;152;p6"/>
          <p:cNvSpPr/>
          <p:nvPr/>
        </p:nvSpPr>
        <p:spPr>
          <a:xfrm>
            <a:off x="731520" y="1554480"/>
            <a:ext cx="1005840" cy="63500"/>
          </a:xfrm>
          <a:prstGeom prst="rect">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6"/>
          <p:cNvSpPr/>
          <p:nvPr/>
        </p:nvSpPr>
        <p:spPr>
          <a:xfrm>
            <a:off x="731520" y="1874520"/>
            <a:ext cx="3291840" cy="256032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C85A32"/>
                </a:solidFill>
                <a:latin typeface="Plus Jakarta Sans"/>
                <a:ea typeface="Plus Jakarta Sans"/>
                <a:cs typeface="Plus Jakarta Sans"/>
                <a:sym typeface="Plus Jakarta Sans"/>
              </a:rPr>
              <a:t>CurricuLLM</a:t>
            </a:r>
            <a:endParaRPr/>
          </a:p>
          <a:p>
            <a:pPr indent="0" lvl="0" marL="0" marR="0" rtl="0" algn="l">
              <a:spcBef>
                <a:spcPts val="600"/>
              </a:spcBef>
              <a:spcAft>
                <a:spcPts val="0"/>
              </a:spcAft>
              <a:buNone/>
            </a:pPr>
            <a:r>
              <a:rPr b="0" lang="en-US" sz="1200">
                <a:solidFill>
                  <a:srgbClr val="3A3730"/>
                </a:solidFill>
                <a:latin typeface="Plus Jakarta Sans"/>
                <a:ea typeface="Plus Jakarta Sans"/>
                <a:cs typeface="Plus Jakarta Sans"/>
                <a:sym typeface="Plus Jakarta Sans"/>
              </a:rPr>
              <a:t>Grounds all assessment content in Australian curriculum standards</a:t>
            </a:r>
            <a:endParaRPr/>
          </a:p>
          <a:p>
            <a:pPr indent="0" lvl="0" marL="0" marR="0" rtl="0" algn="l">
              <a:spcBef>
                <a:spcPts val="1000"/>
              </a:spcBef>
              <a:spcAft>
                <a:spcPts val="0"/>
              </a:spcAft>
              <a:buNone/>
            </a:pPr>
            <a:r>
              <a:rPr b="0" lang="en-US" sz="1100">
                <a:solidFill>
                  <a:srgbClr val="3A3730"/>
                </a:solidFill>
                <a:latin typeface="Plus Jakarta Sans"/>
                <a:ea typeface="Plus Jakarta Sans"/>
                <a:cs typeface="Plus Jakarta Sans"/>
                <a:sym typeface="Plus Jakarta Sans"/>
              </a:rPr>
              <a:t>•  Concept target extraction</a:t>
            </a:r>
            <a:endParaRPr/>
          </a:p>
          <a:p>
            <a:pPr indent="0" lvl="0" marL="0" marR="0" rtl="0" algn="l">
              <a:spcBef>
                <a:spcPts val="600"/>
              </a:spcBef>
              <a:spcAft>
                <a:spcPts val="0"/>
              </a:spcAft>
              <a:buNone/>
            </a:pPr>
            <a:r>
              <a:rPr b="0" lang="en-US" sz="1100">
                <a:solidFill>
                  <a:srgbClr val="3A3730"/>
                </a:solidFill>
                <a:latin typeface="Plus Jakarta Sans"/>
                <a:ea typeface="Plus Jakarta Sans"/>
                <a:cs typeface="Plus Jakarta Sans"/>
                <a:sym typeface="Plus Jakarta Sans"/>
              </a:rPr>
              <a:t>•  Rubric structure alignment</a:t>
            </a:r>
            <a:endParaRPr/>
          </a:p>
          <a:p>
            <a:pPr indent="0" lvl="0" marL="0" marR="0" rtl="0" algn="l">
              <a:spcBef>
                <a:spcPts val="600"/>
              </a:spcBef>
              <a:spcAft>
                <a:spcPts val="0"/>
              </a:spcAft>
              <a:buNone/>
            </a:pPr>
            <a:r>
              <a:rPr b="0" lang="en-US" sz="1100">
                <a:solidFill>
                  <a:srgbClr val="3A3730"/>
                </a:solidFill>
                <a:latin typeface="Plus Jakarta Sans"/>
                <a:ea typeface="Plus Jakarta Sans"/>
                <a:cs typeface="Plus Jakarta Sans"/>
                <a:sym typeface="Plus Jakarta Sans"/>
              </a:rPr>
              <a:t>•  Misconception identification</a:t>
            </a:r>
            <a:endParaRPr/>
          </a:p>
        </p:txBody>
      </p:sp>
      <p:sp>
        <p:nvSpPr>
          <p:cNvPr id="154" name="Google Shape;154;p6"/>
          <p:cNvSpPr/>
          <p:nvPr/>
        </p:nvSpPr>
        <p:spPr>
          <a:xfrm>
            <a:off x="4434840" y="1874520"/>
            <a:ext cx="3291840" cy="256032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C85A32"/>
                </a:solidFill>
                <a:latin typeface="Plus Jakarta Sans"/>
                <a:ea typeface="Plus Jakarta Sans"/>
                <a:cs typeface="Plus Jakarta Sans"/>
                <a:sym typeface="Plus Jakarta Sans"/>
              </a:rPr>
              <a:t>Gemini 2.5 Flash</a:t>
            </a:r>
            <a:endParaRPr/>
          </a:p>
          <a:p>
            <a:pPr indent="0" lvl="0" marL="0" marR="0" rtl="0" algn="l">
              <a:spcBef>
                <a:spcPts val="600"/>
              </a:spcBef>
              <a:spcAft>
                <a:spcPts val="0"/>
              </a:spcAft>
              <a:buNone/>
            </a:pPr>
            <a:r>
              <a:rPr b="0" lang="en-US" sz="1200">
                <a:solidFill>
                  <a:srgbClr val="3A3730"/>
                </a:solidFill>
                <a:latin typeface="Plus Jakarta Sans"/>
                <a:ea typeface="Plus Jakarta Sans"/>
                <a:cs typeface="Plus Jakarta Sans"/>
                <a:sym typeface="Plus Jakarta Sans"/>
              </a:rPr>
              <a:t>Powers narrative generation and real-time dialogue</a:t>
            </a:r>
            <a:endParaRPr/>
          </a:p>
          <a:p>
            <a:pPr indent="0" lvl="0" marL="0" marR="0" rtl="0" algn="l">
              <a:spcBef>
                <a:spcPts val="1000"/>
              </a:spcBef>
              <a:spcAft>
                <a:spcPts val="0"/>
              </a:spcAft>
              <a:buNone/>
            </a:pPr>
            <a:r>
              <a:rPr b="0" lang="en-US" sz="1100">
                <a:solidFill>
                  <a:srgbClr val="3A3730"/>
                </a:solidFill>
                <a:latin typeface="Plus Jakarta Sans"/>
                <a:ea typeface="Plus Jakarta Sans"/>
                <a:cs typeface="Plus Jakarta Sans"/>
                <a:sym typeface="Plus Jakarta Sans"/>
              </a:rPr>
              <a:t>•  Scene &amp; character generation</a:t>
            </a:r>
            <a:endParaRPr/>
          </a:p>
          <a:p>
            <a:pPr indent="0" lvl="0" marL="0" marR="0" rtl="0" algn="l">
              <a:spcBef>
                <a:spcPts val="600"/>
              </a:spcBef>
              <a:spcAft>
                <a:spcPts val="0"/>
              </a:spcAft>
              <a:buNone/>
            </a:pPr>
            <a:r>
              <a:rPr b="0" lang="en-US" sz="1100">
                <a:solidFill>
                  <a:srgbClr val="3A3730"/>
                </a:solidFill>
                <a:latin typeface="Plus Jakarta Sans"/>
                <a:ea typeface="Plus Jakarta Sans"/>
                <a:cs typeface="Plus Jakarta Sans"/>
                <a:sym typeface="Plus Jakarta Sans"/>
              </a:rPr>
              <a:t>•  Socratic questioning engine</a:t>
            </a:r>
            <a:endParaRPr/>
          </a:p>
          <a:p>
            <a:pPr indent="0" lvl="0" marL="0" marR="0" rtl="0" algn="l">
              <a:spcBef>
                <a:spcPts val="600"/>
              </a:spcBef>
              <a:spcAft>
                <a:spcPts val="0"/>
              </a:spcAft>
              <a:buNone/>
            </a:pPr>
            <a:r>
              <a:rPr b="0" lang="en-US" sz="1100">
                <a:solidFill>
                  <a:srgbClr val="3A3730"/>
                </a:solidFill>
                <a:latin typeface="Plus Jakarta Sans"/>
                <a:ea typeface="Plus Jakarta Sans"/>
                <a:cs typeface="Plus Jakarta Sans"/>
                <a:sym typeface="Plus Jakarta Sans"/>
              </a:rPr>
              <a:t>•  Adaptive branching logic</a:t>
            </a:r>
            <a:endParaRPr/>
          </a:p>
        </p:txBody>
      </p:sp>
      <p:sp>
        <p:nvSpPr>
          <p:cNvPr id="155" name="Google Shape;155;p6"/>
          <p:cNvSpPr/>
          <p:nvPr/>
        </p:nvSpPr>
        <p:spPr>
          <a:xfrm>
            <a:off x="8138160" y="1874520"/>
            <a:ext cx="3291840" cy="256032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C85A32"/>
                </a:solidFill>
                <a:latin typeface="Plus Jakarta Sans"/>
                <a:ea typeface="Plus Jakarta Sans"/>
                <a:cs typeface="Plus Jakarta Sans"/>
                <a:sym typeface="Plus Jakarta Sans"/>
              </a:rPr>
              <a:t>Reasoning Graphs</a:t>
            </a:r>
            <a:endParaRPr/>
          </a:p>
          <a:p>
            <a:pPr indent="0" lvl="0" marL="0" marR="0" rtl="0" algn="l">
              <a:spcBef>
                <a:spcPts val="600"/>
              </a:spcBef>
              <a:spcAft>
                <a:spcPts val="0"/>
              </a:spcAft>
              <a:buNone/>
            </a:pPr>
            <a:r>
              <a:rPr b="0" lang="en-US" sz="1200">
                <a:solidFill>
                  <a:srgbClr val="3A3730"/>
                </a:solidFill>
                <a:latin typeface="Plus Jakarta Sans"/>
                <a:ea typeface="Plus Jakarta Sans"/>
                <a:cs typeface="Plus Jakarta Sans"/>
                <a:sym typeface="Plus Jakarta Sans"/>
              </a:rPr>
              <a:t>Captures how students think, not just what they answer</a:t>
            </a:r>
            <a:endParaRPr/>
          </a:p>
          <a:p>
            <a:pPr indent="0" lvl="0" marL="0" marR="0" rtl="0" algn="l">
              <a:spcBef>
                <a:spcPts val="1000"/>
              </a:spcBef>
              <a:spcAft>
                <a:spcPts val="0"/>
              </a:spcAft>
              <a:buNone/>
            </a:pPr>
            <a:r>
              <a:rPr b="0" lang="en-US" sz="1100">
                <a:solidFill>
                  <a:srgbClr val="3A3730"/>
                </a:solidFill>
                <a:latin typeface="Plus Jakarta Sans"/>
                <a:ea typeface="Plus Jakarta Sans"/>
                <a:cs typeface="Plus Jakarta Sans"/>
                <a:sym typeface="Plus Jakarta Sans"/>
              </a:rPr>
              <a:t>•  Decision path tracking</a:t>
            </a:r>
            <a:endParaRPr/>
          </a:p>
          <a:p>
            <a:pPr indent="0" lvl="0" marL="0" marR="0" rtl="0" algn="l">
              <a:spcBef>
                <a:spcPts val="600"/>
              </a:spcBef>
              <a:spcAft>
                <a:spcPts val="0"/>
              </a:spcAft>
              <a:buNone/>
            </a:pPr>
            <a:r>
              <a:rPr b="0" lang="en-US" sz="1100">
                <a:solidFill>
                  <a:srgbClr val="3A3730"/>
                </a:solidFill>
                <a:latin typeface="Plus Jakarta Sans"/>
                <a:ea typeface="Plus Jakarta Sans"/>
                <a:cs typeface="Plus Jakarta Sans"/>
                <a:sym typeface="Plus Jakarta Sans"/>
              </a:rPr>
              <a:t>•  Misconception flagging</a:t>
            </a:r>
            <a:endParaRPr/>
          </a:p>
          <a:p>
            <a:pPr indent="0" lvl="0" marL="0" marR="0" rtl="0" algn="l">
              <a:spcBef>
                <a:spcPts val="600"/>
              </a:spcBef>
              <a:spcAft>
                <a:spcPts val="0"/>
              </a:spcAft>
              <a:buNone/>
            </a:pPr>
            <a:r>
              <a:rPr b="0" lang="en-US" sz="1100">
                <a:solidFill>
                  <a:srgbClr val="3A3730"/>
                </a:solidFill>
                <a:latin typeface="Plus Jakarta Sans"/>
                <a:ea typeface="Plus Jakarta Sans"/>
                <a:cs typeface="Plus Jakarta Sans"/>
                <a:sym typeface="Plus Jakarta Sans"/>
              </a:rPr>
              <a:t>•  Per-student trace views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60" name="Shape 160"/>
        <p:cNvGrpSpPr/>
        <p:nvPr/>
      </p:nvGrpSpPr>
      <p:grpSpPr>
        <a:xfrm>
          <a:off x="0" y="0"/>
          <a:ext cx="0" cy="0"/>
          <a:chOff x="0" y="0"/>
          <a:chExt cx="0" cy="0"/>
        </a:xfrm>
      </p:grpSpPr>
      <p:sp>
        <p:nvSpPr>
          <p:cNvPr id="161" name="Google Shape;161;p7"/>
          <p:cNvSpPr txBox="1"/>
          <p:nvPr/>
        </p:nvSpPr>
        <p:spPr>
          <a:xfrm>
            <a:off x="731520" y="548640"/>
            <a:ext cx="1069848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rgbClr val="C85A32"/>
                </a:solidFill>
                <a:latin typeface="Plus Jakarta Sans"/>
                <a:ea typeface="Plus Jakarta Sans"/>
                <a:cs typeface="Plus Jakarta Sans"/>
                <a:sym typeface="Plus Jakarta Sans"/>
              </a:rPr>
              <a:t>ARCHITECTURE</a:t>
            </a:r>
            <a:endParaRPr/>
          </a:p>
        </p:txBody>
      </p:sp>
      <p:sp>
        <p:nvSpPr>
          <p:cNvPr id="162" name="Google Shape;162;p7"/>
          <p:cNvSpPr txBox="1"/>
          <p:nvPr/>
        </p:nvSpPr>
        <p:spPr>
          <a:xfrm>
            <a:off x="731520" y="960120"/>
            <a:ext cx="1069848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1E1C18"/>
                </a:solidFill>
                <a:latin typeface="Plus Jakarta Sans"/>
                <a:ea typeface="Plus Jakarta Sans"/>
                <a:cs typeface="Plus Jakarta Sans"/>
                <a:sym typeface="Plus Jakarta Sans"/>
              </a:rPr>
              <a:t>Full-Stack on Google Cloud</a:t>
            </a:r>
            <a:endParaRPr/>
          </a:p>
        </p:txBody>
      </p:sp>
      <p:sp>
        <p:nvSpPr>
          <p:cNvPr id="163" name="Google Shape;163;p7"/>
          <p:cNvSpPr/>
          <p:nvPr/>
        </p:nvSpPr>
        <p:spPr>
          <a:xfrm>
            <a:off x="731520" y="1554480"/>
            <a:ext cx="1005840" cy="63500"/>
          </a:xfrm>
          <a:prstGeom prst="rect">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7"/>
          <p:cNvSpPr/>
          <p:nvPr/>
        </p:nvSpPr>
        <p:spPr>
          <a:xfrm>
            <a:off x="731520" y="1874520"/>
            <a:ext cx="3017520" cy="3291840"/>
          </a:xfrm>
          <a:prstGeom prst="roundRect">
            <a:avLst>
              <a:gd fmla="val 16667" name="adj"/>
            </a:avLst>
          </a:prstGeom>
          <a:solidFill>
            <a:srgbClr val="FFFFFF"/>
          </a:solidFill>
          <a:ln cap="flat" cmpd="sng" w="25400">
            <a:solidFill>
              <a:srgbClr val="C4A24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1E1C18"/>
                </a:solidFill>
                <a:latin typeface="Plus Jakarta Sans"/>
                <a:ea typeface="Plus Jakarta Sans"/>
                <a:cs typeface="Plus Jakarta Sans"/>
                <a:sym typeface="Plus Jakarta Sans"/>
              </a:rPr>
              <a:t>FRONTEND</a:t>
            </a:r>
            <a:endParaRPr/>
          </a:p>
          <a:p>
            <a:pPr indent="0" lvl="0" marL="0" marR="0" rtl="0" algn="ctr">
              <a:spcBef>
                <a:spcPts val="1600"/>
              </a:spcBef>
              <a:spcAft>
                <a:spcPts val="0"/>
              </a:spcAft>
              <a:buNone/>
            </a:pPr>
            <a:r>
              <a:rPr b="1" lang="en-US" sz="1300">
                <a:solidFill>
                  <a:srgbClr val="3A3730"/>
                </a:solidFill>
                <a:latin typeface="Plus Jakarta Sans"/>
                <a:ea typeface="Plus Jakarta Sans"/>
                <a:cs typeface="Plus Jakarta Sans"/>
                <a:sym typeface="Plus Jakarta Sans"/>
              </a:rPr>
              <a:t>Next.js 16</a:t>
            </a:r>
            <a:endParaRPr/>
          </a:p>
          <a:p>
            <a:pPr indent="0" lvl="0" marL="0" marR="0" rtl="0" algn="ctr">
              <a:spcBef>
                <a:spcPts val="1200"/>
              </a:spcBef>
              <a:spcAft>
                <a:spcPts val="0"/>
              </a:spcAft>
              <a:buNone/>
            </a:pPr>
            <a:r>
              <a:rPr b="0" lang="en-US" sz="1300">
                <a:solidFill>
                  <a:srgbClr val="3A3730"/>
                </a:solidFill>
                <a:latin typeface="Plus Jakarta Sans"/>
                <a:ea typeface="Plus Jakarta Sans"/>
                <a:cs typeface="Plus Jakarta Sans"/>
                <a:sym typeface="Plus Jakarta Sans"/>
              </a:rPr>
              <a:t>Teacher Dashboard</a:t>
            </a:r>
            <a:endParaRPr/>
          </a:p>
          <a:p>
            <a:pPr indent="0" lvl="0" marL="0" marR="0" rtl="0" algn="ctr">
              <a:spcBef>
                <a:spcPts val="1200"/>
              </a:spcBef>
              <a:spcAft>
                <a:spcPts val="0"/>
              </a:spcAft>
              <a:buNone/>
            </a:pPr>
            <a:r>
              <a:rPr b="0" lang="en-US" sz="1300">
                <a:solidFill>
                  <a:srgbClr val="3A3730"/>
                </a:solidFill>
                <a:latin typeface="Plus Jakarta Sans"/>
                <a:ea typeface="Plus Jakarta Sans"/>
                <a:cs typeface="Plus Jakarta Sans"/>
                <a:sym typeface="Plus Jakarta Sans"/>
              </a:rPr>
              <a:t>Student PWA</a:t>
            </a:r>
            <a:endParaRPr/>
          </a:p>
          <a:p>
            <a:pPr indent="0" lvl="0" marL="0" marR="0" rtl="0" algn="ctr">
              <a:spcBef>
                <a:spcPts val="1200"/>
              </a:spcBef>
              <a:spcAft>
                <a:spcPts val="0"/>
              </a:spcAft>
              <a:buNone/>
            </a:pPr>
            <a:r>
              <a:rPr b="0" lang="en-US" sz="1300">
                <a:solidFill>
                  <a:srgbClr val="6B655A"/>
                </a:solidFill>
                <a:latin typeface="Plus Jakarta Sans"/>
                <a:ea typeface="Plus Jakarta Sans"/>
                <a:cs typeface="Plus Jakarta Sans"/>
                <a:sym typeface="Plus Jakarta Sans"/>
              </a:rPr>
              <a:t>Vercel Hosting</a:t>
            </a:r>
            <a:endParaRPr/>
          </a:p>
        </p:txBody>
      </p:sp>
      <p:sp>
        <p:nvSpPr>
          <p:cNvPr id="165" name="Google Shape;165;p7"/>
          <p:cNvSpPr/>
          <p:nvPr/>
        </p:nvSpPr>
        <p:spPr>
          <a:xfrm>
            <a:off x="1463040" y="2011680"/>
            <a:ext cx="1554480" cy="320040"/>
          </a:xfrm>
          <a:prstGeom prst="roundRect">
            <a:avLst>
              <a:gd fmla="val 16667" name="adj"/>
            </a:avLst>
          </a:prstGeom>
          <a:solidFill>
            <a:srgbClr val="C4A24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1E1C18"/>
                </a:solidFill>
                <a:latin typeface="Plus Jakarta Sans"/>
                <a:ea typeface="Plus Jakarta Sans"/>
                <a:cs typeface="Plus Jakarta Sans"/>
                <a:sym typeface="Plus Jakarta Sans"/>
              </a:rPr>
              <a:t>FRONTEND</a:t>
            </a:r>
            <a:endParaRPr/>
          </a:p>
        </p:txBody>
      </p:sp>
      <p:sp>
        <p:nvSpPr>
          <p:cNvPr id="166" name="Google Shape;166;p7"/>
          <p:cNvSpPr txBox="1"/>
          <p:nvPr/>
        </p:nvSpPr>
        <p:spPr>
          <a:xfrm>
            <a:off x="3794760" y="3154680"/>
            <a:ext cx="8229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000">
                <a:solidFill>
                  <a:srgbClr val="C85A32"/>
                </a:solidFill>
                <a:latin typeface="Plus Jakarta Sans"/>
                <a:ea typeface="Plus Jakarta Sans"/>
                <a:cs typeface="Plus Jakarta Sans"/>
                <a:sym typeface="Plus Jakarta Sans"/>
              </a:rPr>
              <a:t>REST / API</a:t>
            </a:r>
            <a:endParaRPr/>
          </a:p>
        </p:txBody>
      </p:sp>
      <p:sp>
        <p:nvSpPr>
          <p:cNvPr id="167" name="Google Shape;167;p7"/>
          <p:cNvSpPr/>
          <p:nvPr/>
        </p:nvSpPr>
        <p:spPr>
          <a:xfrm>
            <a:off x="3886200" y="3520440"/>
            <a:ext cx="640080" cy="228600"/>
          </a:xfrm>
          <a:prstGeom prst="rightArrow">
            <a:avLst>
              <a:gd fmla="val 50000" name="adj1"/>
              <a:gd fmla="val 50000" name="adj2"/>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7"/>
          <p:cNvSpPr/>
          <p:nvPr/>
        </p:nvSpPr>
        <p:spPr>
          <a:xfrm>
            <a:off x="4572000" y="1874520"/>
            <a:ext cx="3017520" cy="3291840"/>
          </a:xfrm>
          <a:prstGeom prst="roundRect">
            <a:avLst>
              <a:gd fmla="val 16667" name="adj"/>
            </a:avLst>
          </a:prstGeom>
          <a:solidFill>
            <a:srgbClr val="FFFFFF"/>
          </a:solidFill>
          <a:ln cap="flat" cmpd="sng" w="25400">
            <a:solidFill>
              <a:srgbClr val="C85A3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4F1EA"/>
                </a:solidFill>
                <a:latin typeface="Plus Jakarta Sans"/>
                <a:ea typeface="Plus Jakarta Sans"/>
                <a:cs typeface="Plus Jakarta Sans"/>
                <a:sym typeface="Plus Jakarta Sans"/>
              </a:rPr>
              <a:t>BACKEND</a:t>
            </a:r>
            <a:endParaRPr/>
          </a:p>
          <a:p>
            <a:pPr indent="0" lvl="0" marL="0" marR="0" rtl="0" algn="ctr">
              <a:spcBef>
                <a:spcPts val="1600"/>
              </a:spcBef>
              <a:spcAft>
                <a:spcPts val="0"/>
              </a:spcAft>
              <a:buNone/>
            </a:pPr>
            <a:r>
              <a:rPr b="1" lang="en-US" sz="1300">
                <a:solidFill>
                  <a:srgbClr val="3A3730"/>
                </a:solidFill>
                <a:latin typeface="Plus Jakarta Sans"/>
                <a:ea typeface="Plus Jakarta Sans"/>
                <a:cs typeface="Plus Jakarta Sans"/>
                <a:sym typeface="Plus Jakarta Sans"/>
              </a:rPr>
              <a:t>FastAPI</a:t>
            </a:r>
            <a:endParaRPr/>
          </a:p>
          <a:p>
            <a:pPr indent="0" lvl="0" marL="0" marR="0" rtl="0" algn="ctr">
              <a:spcBef>
                <a:spcPts val="1200"/>
              </a:spcBef>
              <a:spcAft>
                <a:spcPts val="0"/>
              </a:spcAft>
              <a:buNone/>
            </a:pPr>
            <a:r>
              <a:rPr b="0" lang="en-US" sz="1300">
                <a:solidFill>
                  <a:srgbClr val="3A3730"/>
                </a:solidFill>
                <a:latin typeface="Plus Jakarta Sans"/>
                <a:ea typeface="Plus Jakarta Sans"/>
                <a:cs typeface="Plus Jakarta Sans"/>
                <a:sym typeface="Plus Jakarta Sans"/>
              </a:rPr>
              <a:t>Auth + User Mgmt</a:t>
            </a:r>
            <a:endParaRPr/>
          </a:p>
          <a:p>
            <a:pPr indent="0" lvl="0" marL="0" marR="0" rtl="0" algn="ctr">
              <a:spcBef>
                <a:spcPts val="1200"/>
              </a:spcBef>
              <a:spcAft>
                <a:spcPts val="0"/>
              </a:spcAft>
              <a:buNone/>
            </a:pPr>
            <a:r>
              <a:rPr b="0" lang="en-US" sz="1300">
                <a:solidFill>
                  <a:srgbClr val="3A3730"/>
                </a:solidFill>
                <a:latin typeface="Plus Jakarta Sans"/>
                <a:ea typeface="Plus Jakarta Sans"/>
                <a:cs typeface="Plus Jakarta Sans"/>
                <a:sym typeface="Plus Jakarta Sans"/>
              </a:rPr>
              <a:t>Arc Generation</a:t>
            </a:r>
            <a:endParaRPr/>
          </a:p>
          <a:p>
            <a:pPr indent="0" lvl="0" marL="0" marR="0" rtl="0" algn="ctr">
              <a:spcBef>
                <a:spcPts val="1200"/>
              </a:spcBef>
              <a:spcAft>
                <a:spcPts val="0"/>
              </a:spcAft>
              <a:buNone/>
            </a:pPr>
            <a:r>
              <a:rPr b="0" lang="en-US" sz="1300">
                <a:solidFill>
                  <a:srgbClr val="3A3730"/>
                </a:solidFill>
                <a:latin typeface="Plus Jakarta Sans"/>
                <a:ea typeface="Plus Jakarta Sans"/>
                <a:cs typeface="Plus Jakarta Sans"/>
                <a:sym typeface="Plus Jakarta Sans"/>
              </a:rPr>
              <a:t>Dialogue Engine</a:t>
            </a:r>
            <a:endParaRPr/>
          </a:p>
          <a:p>
            <a:pPr indent="0" lvl="0" marL="0" marR="0" rtl="0" algn="ctr">
              <a:spcBef>
                <a:spcPts val="1200"/>
              </a:spcBef>
              <a:spcAft>
                <a:spcPts val="0"/>
              </a:spcAft>
              <a:buNone/>
            </a:pPr>
            <a:r>
              <a:rPr b="0" lang="en-US" sz="1300">
                <a:solidFill>
                  <a:srgbClr val="6B655A"/>
                </a:solidFill>
                <a:latin typeface="Plus Jakarta Sans"/>
                <a:ea typeface="Plus Jakarta Sans"/>
                <a:cs typeface="Plus Jakarta Sans"/>
                <a:sym typeface="Plus Jakarta Sans"/>
              </a:rPr>
              <a:t>Google Cloud Run</a:t>
            </a:r>
            <a:endParaRPr/>
          </a:p>
        </p:txBody>
      </p:sp>
      <p:sp>
        <p:nvSpPr>
          <p:cNvPr id="169" name="Google Shape;169;p7"/>
          <p:cNvSpPr/>
          <p:nvPr/>
        </p:nvSpPr>
        <p:spPr>
          <a:xfrm>
            <a:off x="5303520" y="2011680"/>
            <a:ext cx="1554480" cy="320040"/>
          </a:xfrm>
          <a:prstGeom prst="roundRect">
            <a:avLst>
              <a:gd fmla="val 16667" name="adj"/>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4F1EA"/>
                </a:solidFill>
                <a:latin typeface="Plus Jakarta Sans"/>
                <a:ea typeface="Plus Jakarta Sans"/>
                <a:cs typeface="Plus Jakarta Sans"/>
                <a:sym typeface="Plus Jakarta Sans"/>
              </a:rPr>
              <a:t>BACKEND</a:t>
            </a:r>
            <a:endParaRPr/>
          </a:p>
        </p:txBody>
      </p:sp>
      <p:sp>
        <p:nvSpPr>
          <p:cNvPr id="170" name="Google Shape;170;p7"/>
          <p:cNvSpPr txBox="1"/>
          <p:nvPr/>
        </p:nvSpPr>
        <p:spPr>
          <a:xfrm>
            <a:off x="7635240" y="3154680"/>
            <a:ext cx="8229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000">
                <a:solidFill>
                  <a:srgbClr val="C85A32"/>
                </a:solidFill>
                <a:latin typeface="Plus Jakarta Sans"/>
                <a:ea typeface="Plus Jakarta Sans"/>
                <a:cs typeface="Plus Jakarta Sans"/>
                <a:sym typeface="Plus Jakarta Sans"/>
              </a:rPr>
              <a:t>SDK / APIs</a:t>
            </a:r>
            <a:endParaRPr/>
          </a:p>
        </p:txBody>
      </p:sp>
      <p:sp>
        <p:nvSpPr>
          <p:cNvPr id="171" name="Google Shape;171;p7"/>
          <p:cNvSpPr/>
          <p:nvPr/>
        </p:nvSpPr>
        <p:spPr>
          <a:xfrm>
            <a:off x="7726680" y="3520440"/>
            <a:ext cx="640080" cy="228600"/>
          </a:xfrm>
          <a:prstGeom prst="rightArrow">
            <a:avLst>
              <a:gd fmla="val 50000" name="adj1"/>
              <a:gd fmla="val 50000" name="adj2"/>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7"/>
          <p:cNvSpPr/>
          <p:nvPr/>
        </p:nvSpPr>
        <p:spPr>
          <a:xfrm>
            <a:off x="8412480" y="1874520"/>
            <a:ext cx="3017520" cy="3291840"/>
          </a:xfrm>
          <a:prstGeom prst="roundRect">
            <a:avLst>
              <a:gd fmla="val 16667" name="adj"/>
            </a:avLst>
          </a:prstGeom>
          <a:solidFill>
            <a:srgbClr val="FFFFFF"/>
          </a:solidFill>
          <a:ln cap="flat" cmpd="sng" w="25400">
            <a:solidFill>
              <a:srgbClr val="6B8F6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FFFFF"/>
                </a:solidFill>
                <a:latin typeface="Plus Jakarta Sans"/>
                <a:ea typeface="Plus Jakarta Sans"/>
                <a:cs typeface="Plus Jakarta Sans"/>
                <a:sym typeface="Plus Jakarta Sans"/>
              </a:rPr>
              <a:t>SERVICES</a:t>
            </a:r>
            <a:endParaRPr/>
          </a:p>
          <a:p>
            <a:pPr indent="0" lvl="0" marL="0" marR="0" rtl="0" algn="ctr">
              <a:spcBef>
                <a:spcPts val="1600"/>
              </a:spcBef>
              <a:spcAft>
                <a:spcPts val="0"/>
              </a:spcAft>
              <a:buNone/>
            </a:pPr>
            <a:r>
              <a:rPr b="1" lang="en-US" sz="1300">
                <a:solidFill>
                  <a:srgbClr val="3A3730"/>
                </a:solidFill>
                <a:latin typeface="Plus Jakarta Sans"/>
                <a:ea typeface="Plus Jakarta Sans"/>
                <a:cs typeface="Plus Jakarta Sans"/>
                <a:sym typeface="Plus Jakarta Sans"/>
              </a:rPr>
              <a:t>Firebase Auth + Firestore</a:t>
            </a:r>
            <a:endParaRPr/>
          </a:p>
          <a:p>
            <a:pPr indent="0" lvl="0" marL="0" marR="0" rtl="0" algn="ctr">
              <a:spcBef>
                <a:spcPts val="1200"/>
              </a:spcBef>
              <a:spcAft>
                <a:spcPts val="0"/>
              </a:spcAft>
              <a:buNone/>
            </a:pPr>
            <a:r>
              <a:rPr b="0" lang="en-US" sz="1300">
                <a:solidFill>
                  <a:srgbClr val="3A3730"/>
                </a:solidFill>
                <a:latin typeface="Plus Jakarta Sans"/>
                <a:ea typeface="Plus Jakarta Sans"/>
                <a:cs typeface="Plus Jakarta Sans"/>
                <a:sym typeface="Plus Jakarta Sans"/>
              </a:rPr>
              <a:t>Gemini 2.5 Flash</a:t>
            </a:r>
            <a:endParaRPr/>
          </a:p>
          <a:p>
            <a:pPr indent="0" lvl="0" marL="0" marR="0" rtl="0" algn="ctr">
              <a:spcBef>
                <a:spcPts val="1200"/>
              </a:spcBef>
              <a:spcAft>
                <a:spcPts val="0"/>
              </a:spcAft>
              <a:buNone/>
            </a:pPr>
            <a:r>
              <a:rPr b="0" lang="en-US" sz="1300">
                <a:solidFill>
                  <a:srgbClr val="3A3730"/>
                </a:solidFill>
                <a:latin typeface="Plus Jakarta Sans"/>
                <a:ea typeface="Plus Jakarta Sans"/>
                <a:cs typeface="Plus Jakarta Sans"/>
                <a:sym typeface="Plus Jakarta Sans"/>
              </a:rPr>
              <a:t>CurricuLLM Standards</a:t>
            </a:r>
            <a:endParaRPr/>
          </a:p>
          <a:p>
            <a:pPr indent="0" lvl="0" marL="0" marR="0" rtl="0" algn="ctr">
              <a:spcBef>
                <a:spcPts val="1200"/>
              </a:spcBef>
              <a:spcAft>
                <a:spcPts val="0"/>
              </a:spcAft>
              <a:buNone/>
            </a:pPr>
            <a:r>
              <a:rPr b="0" lang="en-US" sz="1300">
                <a:solidFill>
                  <a:srgbClr val="6B655A"/>
                </a:solidFill>
                <a:latin typeface="Plus Jakarta Sans"/>
                <a:ea typeface="Plus Jakarta Sans"/>
                <a:cs typeface="Plus Jakarta Sans"/>
                <a:sym typeface="Plus Jakarta Sans"/>
              </a:rPr>
              <a:t>Google Cloud Platform</a:t>
            </a:r>
            <a:endParaRPr/>
          </a:p>
        </p:txBody>
      </p:sp>
      <p:sp>
        <p:nvSpPr>
          <p:cNvPr id="173" name="Google Shape;173;p7"/>
          <p:cNvSpPr/>
          <p:nvPr/>
        </p:nvSpPr>
        <p:spPr>
          <a:xfrm>
            <a:off x="9144000" y="2011680"/>
            <a:ext cx="1554480" cy="320040"/>
          </a:xfrm>
          <a:prstGeom prst="roundRect">
            <a:avLst>
              <a:gd fmla="val 16667" name="adj"/>
            </a:avLst>
          </a:prstGeom>
          <a:solidFill>
            <a:srgbClr val="6B8F6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FFFFF"/>
                </a:solidFill>
                <a:latin typeface="Plus Jakarta Sans"/>
                <a:ea typeface="Plus Jakarta Sans"/>
                <a:cs typeface="Plus Jakarta Sans"/>
                <a:sym typeface="Plus Jakarta Sans"/>
              </a:rPr>
              <a:t>SERVICES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78" name="Shape 178"/>
        <p:cNvGrpSpPr/>
        <p:nvPr/>
      </p:nvGrpSpPr>
      <p:grpSpPr>
        <a:xfrm>
          <a:off x="0" y="0"/>
          <a:ext cx="0" cy="0"/>
          <a:chOff x="0" y="0"/>
          <a:chExt cx="0" cy="0"/>
        </a:xfrm>
      </p:grpSpPr>
      <p:sp>
        <p:nvSpPr>
          <p:cNvPr id="179" name="Google Shape;179;p8"/>
          <p:cNvSpPr txBox="1"/>
          <p:nvPr/>
        </p:nvSpPr>
        <p:spPr>
          <a:xfrm>
            <a:off x="731520" y="548640"/>
            <a:ext cx="106986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rgbClr val="C85A32"/>
                </a:solidFill>
                <a:latin typeface="Plus Jakarta Sans"/>
                <a:ea typeface="Plus Jakarta Sans"/>
                <a:cs typeface="Plus Jakarta Sans"/>
                <a:sym typeface="Plus Jakarta Sans"/>
              </a:rPr>
              <a:t>TECH HIGHLIGHTS</a:t>
            </a:r>
            <a:endParaRPr/>
          </a:p>
        </p:txBody>
      </p:sp>
      <p:sp>
        <p:nvSpPr>
          <p:cNvPr id="180" name="Google Shape;180;p8"/>
          <p:cNvSpPr txBox="1"/>
          <p:nvPr/>
        </p:nvSpPr>
        <p:spPr>
          <a:xfrm>
            <a:off x="731520" y="960120"/>
            <a:ext cx="10698600" cy="54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1E1C18"/>
                </a:solidFill>
                <a:latin typeface="Plus Jakarta Sans"/>
                <a:ea typeface="Plus Jakarta Sans"/>
                <a:cs typeface="Plus Jakarta Sans"/>
                <a:sym typeface="Plus Jakarta Sans"/>
              </a:rPr>
              <a:t>What Makes It Work</a:t>
            </a:r>
            <a:endParaRPr/>
          </a:p>
        </p:txBody>
      </p:sp>
      <p:sp>
        <p:nvSpPr>
          <p:cNvPr id="181" name="Google Shape;181;p8"/>
          <p:cNvSpPr/>
          <p:nvPr/>
        </p:nvSpPr>
        <p:spPr>
          <a:xfrm>
            <a:off x="731520" y="1554480"/>
            <a:ext cx="1005900" cy="63600"/>
          </a:xfrm>
          <a:prstGeom prst="rect">
            <a:avLst/>
          </a:prstGeom>
          <a:solidFill>
            <a:srgbClr val="C85A3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8"/>
          <p:cNvSpPr/>
          <p:nvPr/>
        </p:nvSpPr>
        <p:spPr>
          <a:xfrm>
            <a:off x="731520" y="1874520"/>
            <a:ext cx="3291900" cy="164580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C85A32"/>
                </a:solidFill>
                <a:latin typeface="Plus Jakarta Sans"/>
                <a:ea typeface="Plus Jakarta Sans"/>
                <a:cs typeface="Plus Jakarta Sans"/>
                <a:sym typeface="Plus Jakarta Sans"/>
              </a:rPr>
              <a:t>Curriculum Grounding</a:t>
            </a:r>
            <a:endParaRPr/>
          </a:p>
          <a:p>
            <a:pPr indent="0" lvl="0" marL="0" marR="0" rtl="0" algn="l">
              <a:spcBef>
                <a:spcPts val="600"/>
              </a:spcBef>
              <a:spcAft>
                <a:spcPts val="0"/>
              </a:spcAft>
              <a:buNone/>
            </a:pPr>
            <a:r>
              <a:rPr b="0" lang="en-US" sz="1200">
                <a:solidFill>
                  <a:srgbClr val="3A3730"/>
                </a:solidFill>
                <a:latin typeface="Plus Jakarta Sans"/>
                <a:ea typeface="Plus Jakarta Sans"/>
                <a:cs typeface="Plus Jakarta Sans"/>
                <a:sym typeface="Plus Jakarta Sans"/>
              </a:rPr>
              <a:t>CurricuLLM ensures every generated scenario maps to real curriculum standards — no hallucinated assessments</a:t>
            </a:r>
            <a:endParaRPr/>
          </a:p>
        </p:txBody>
      </p:sp>
      <p:sp>
        <p:nvSpPr>
          <p:cNvPr id="183" name="Google Shape;183;p8"/>
          <p:cNvSpPr/>
          <p:nvPr/>
        </p:nvSpPr>
        <p:spPr>
          <a:xfrm>
            <a:off x="4434840" y="1874520"/>
            <a:ext cx="3291900" cy="164580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C85A32"/>
                </a:solidFill>
                <a:latin typeface="Plus Jakarta Sans"/>
                <a:ea typeface="Plus Jakarta Sans"/>
                <a:cs typeface="Plus Jakarta Sans"/>
                <a:sym typeface="Plus Jakarta Sans"/>
              </a:rPr>
              <a:t>Real-Time Traces</a:t>
            </a:r>
            <a:endParaRPr/>
          </a:p>
          <a:p>
            <a:pPr indent="0" lvl="0" marL="0" marR="0" rtl="0" algn="l">
              <a:spcBef>
                <a:spcPts val="600"/>
              </a:spcBef>
              <a:spcAft>
                <a:spcPts val="0"/>
              </a:spcAft>
              <a:buNone/>
            </a:pPr>
            <a:r>
              <a:rPr b="0" lang="en-US" sz="1200">
                <a:solidFill>
                  <a:srgbClr val="3A3730"/>
                </a:solidFill>
                <a:latin typeface="Plus Jakarta Sans"/>
                <a:ea typeface="Plus Jakarta Sans"/>
                <a:cs typeface="Plus Jakarta Sans"/>
                <a:sym typeface="Plus Jakarta Sans"/>
              </a:rPr>
              <a:t>Firestore listeners push live reasoning data to teacher dashboards as students progress through scenarios</a:t>
            </a:r>
            <a:endParaRPr/>
          </a:p>
        </p:txBody>
      </p:sp>
      <p:sp>
        <p:nvSpPr>
          <p:cNvPr id="184" name="Google Shape;184;p8"/>
          <p:cNvSpPr/>
          <p:nvPr/>
        </p:nvSpPr>
        <p:spPr>
          <a:xfrm>
            <a:off x="8138160" y="1874520"/>
            <a:ext cx="3291900" cy="164580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C85A32"/>
                </a:solidFill>
                <a:latin typeface="Plus Jakarta Sans"/>
                <a:ea typeface="Plus Jakarta Sans"/>
                <a:cs typeface="Plus Jakarta Sans"/>
                <a:sym typeface="Plus Jakarta Sans"/>
              </a:rPr>
              <a:t>Adaptive Dialogue</a:t>
            </a:r>
            <a:endParaRPr/>
          </a:p>
          <a:p>
            <a:pPr indent="0" lvl="0" marL="0" marR="0" rtl="0" algn="l">
              <a:spcBef>
                <a:spcPts val="600"/>
              </a:spcBef>
              <a:spcAft>
                <a:spcPts val="0"/>
              </a:spcAft>
              <a:buNone/>
            </a:pPr>
            <a:r>
              <a:rPr b="0" lang="en-US" sz="1200">
                <a:solidFill>
                  <a:srgbClr val="3A3730"/>
                </a:solidFill>
                <a:latin typeface="Plus Jakarta Sans"/>
                <a:ea typeface="Plus Jakarta Sans"/>
                <a:cs typeface="Plus Jakarta Sans"/>
                <a:sym typeface="Plus Jakarta Sans"/>
              </a:rPr>
              <a:t>Gemini-powered Socratic engine adjusts questioning depth based on student responses in real-time</a:t>
            </a:r>
            <a:endParaRPr/>
          </a:p>
        </p:txBody>
      </p:sp>
      <p:sp>
        <p:nvSpPr>
          <p:cNvPr id="185" name="Google Shape;185;p8"/>
          <p:cNvSpPr/>
          <p:nvPr/>
        </p:nvSpPr>
        <p:spPr>
          <a:xfrm>
            <a:off x="731520" y="3794760"/>
            <a:ext cx="5029200" cy="164580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C85A32"/>
                </a:solidFill>
                <a:latin typeface="Plus Jakarta Sans"/>
                <a:ea typeface="Plus Jakarta Sans"/>
                <a:cs typeface="Plus Jakarta Sans"/>
                <a:sym typeface="Plus Jakarta Sans"/>
              </a:rPr>
              <a:t>PWA-First Mobile</a:t>
            </a:r>
            <a:endParaRPr/>
          </a:p>
          <a:p>
            <a:pPr indent="0" lvl="0" marL="0" marR="0" rtl="0" algn="l">
              <a:spcBef>
                <a:spcPts val="600"/>
              </a:spcBef>
              <a:spcAft>
                <a:spcPts val="0"/>
              </a:spcAft>
              <a:buNone/>
            </a:pPr>
            <a:r>
              <a:rPr b="0" lang="en-US" sz="1200">
                <a:solidFill>
                  <a:srgbClr val="3A3730"/>
                </a:solidFill>
                <a:latin typeface="Plus Jakarta Sans"/>
                <a:ea typeface="Plus Jakarta Sans"/>
                <a:cs typeface="Plus Jakarta Sans"/>
                <a:sym typeface="Plus Jakarta Sans"/>
              </a:rPr>
              <a:t>Students access VN assessments on any device via Progressive Web App — no app store, no installation</a:t>
            </a:r>
            <a:endParaRPr/>
          </a:p>
        </p:txBody>
      </p:sp>
      <p:sp>
        <p:nvSpPr>
          <p:cNvPr id="186" name="Google Shape;186;p8"/>
          <p:cNvSpPr/>
          <p:nvPr/>
        </p:nvSpPr>
        <p:spPr>
          <a:xfrm>
            <a:off x="6172200" y="3794760"/>
            <a:ext cx="5029200" cy="164580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C85A32"/>
                </a:solidFill>
                <a:latin typeface="Plus Jakarta Sans"/>
                <a:ea typeface="Plus Jakarta Sans"/>
                <a:cs typeface="Plus Jakarta Sans"/>
                <a:sym typeface="Plus Jakarta Sans"/>
              </a:rPr>
              <a:t>Responsible AI By Design</a:t>
            </a:r>
            <a:endParaRPr/>
          </a:p>
          <a:p>
            <a:pPr indent="0" lvl="0" marL="0" marR="0" rtl="0" algn="l">
              <a:spcBef>
                <a:spcPts val="600"/>
              </a:spcBef>
              <a:spcAft>
                <a:spcPts val="0"/>
              </a:spcAft>
              <a:buNone/>
            </a:pPr>
            <a:r>
              <a:rPr lang="en-US" sz="1200">
                <a:solidFill>
                  <a:srgbClr val="3A3730"/>
                </a:solidFill>
                <a:latin typeface="Plus Jakarta Sans"/>
                <a:ea typeface="Plus Jakarta Sans"/>
                <a:cs typeface="Plus Jakarta Sans"/>
                <a:sym typeface="Plus Jakarta Sans"/>
              </a:rPr>
              <a:t>Teachers retain full oversight — AI generates and probes, but educators control published content and final evaluation. Student reasoning traces treated as protected educational records. Pushback engine challenges reasoning quality, not penalising non-standard thinking styles.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91" name="Shape 191"/>
        <p:cNvGrpSpPr/>
        <p:nvPr/>
      </p:nvGrpSpPr>
      <p:grpSpPr>
        <a:xfrm>
          <a:off x="0" y="0"/>
          <a:ext cx="0" cy="0"/>
          <a:chOff x="0" y="0"/>
          <a:chExt cx="0" cy="0"/>
        </a:xfrm>
      </p:grpSpPr>
      <p:sp>
        <p:nvSpPr>
          <p:cNvPr id="192" name="Google Shape;192;p9"/>
          <p:cNvSpPr txBox="1"/>
          <p:nvPr/>
        </p:nvSpPr>
        <p:spPr>
          <a:xfrm>
            <a:off x="731520" y="548640"/>
            <a:ext cx="1069848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rgbClr val="C85A32"/>
                </a:solidFill>
                <a:latin typeface="Plus Jakarta Sans"/>
                <a:ea typeface="Plus Jakarta Sans"/>
                <a:cs typeface="Plus Jakarta Sans"/>
                <a:sym typeface="Plus Jakarta Sans"/>
              </a:rPr>
              <a:t>IMPACT &amp; FUTURE</a:t>
            </a:r>
            <a:endParaRPr/>
          </a:p>
        </p:txBody>
      </p:sp>
      <p:sp>
        <p:nvSpPr>
          <p:cNvPr id="193" name="Google Shape;193;p9"/>
          <p:cNvSpPr txBox="1"/>
          <p:nvPr/>
        </p:nvSpPr>
        <p:spPr>
          <a:xfrm>
            <a:off x="731520" y="960120"/>
            <a:ext cx="1069848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1E1C18"/>
                </a:solidFill>
                <a:latin typeface="Plus Jakarta Sans"/>
                <a:ea typeface="Plus Jakarta Sans"/>
                <a:cs typeface="Plus Jakarta Sans"/>
                <a:sym typeface="Plus Jakarta Sans"/>
              </a:rPr>
              <a:t>Redefining Assessment at Scale</a:t>
            </a:r>
            <a:endParaRPr/>
          </a:p>
        </p:txBody>
      </p:sp>
      <p:sp>
        <p:nvSpPr>
          <p:cNvPr id="194" name="Google Shape;194;p9"/>
          <p:cNvSpPr/>
          <p:nvPr/>
        </p:nvSpPr>
        <p:spPr>
          <a:xfrm>
            <a:off x="731520" y="1554480"/>
            <a:ext cx="1005840" cy="63500"/>
          </a:xfrm>
          <a:prstGeom prst="rect">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9"/>
          <p:cNvSpPr/>
          <p:nvPr/>
        </p:nvSpPr>
        <p:spPr>
          <a:xfrm>
            <a:off x="731520" y="1874520"/>
            <a:ext cx="2194560" cy="118872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600">
                <a:solidFill>
                  <a:srgbClr val="C85A32"/>
                </a:solidFill>
                <a:latin typeface="Plus Jakarta Sans"/>
                <a:ea typeface="Plus Jakarta Sans"/>
                <a:cs typeface="Plus Jakarta Sans"/>
                <a:sym typeface="Plus Jakarta Sans"/>
              </a:rPr>
              <a:t>0%</a:t>
            </a:r>
            <a:endParaRPr/>
          </a:p>
          <a:p>
            <a:pPr indent="0" lvl="0" marL="0" marR="0" rtl="0" algn="ctr">
              <a:spcBef>
                <a:spcPts val="400"/>
              </a:spcBef>
              <a:spcAft>
                <a:spcPts val="0"/>
              </a:spcAft>
              <a:buNone/>
            </a:pPr>
            <a:r>
              <a:rPr b="0" lang="en-US" sz="1300">
                <a:solidFill>
                  <a:srgbClr val="6B655A"/>
                </a:solidFill>
                <a:latin typeface="Plus Jakarta Sans"/>
                <a:ea typeface="Plus Jakarta Sans"/>
                <a:cs typeface="Plus Jakarta Sans"/>
                <a:sym typeface="Plus Jakarta Sans"/>
              </a:rPr>
              <a:t>Exam Anxiety</a:t>
            </a:r>
            <a:endParaRPr/>
          </a:p>
        </p:txBody>
      </p:sp>
      <p:sp>
        <p:nvSpPr>
          <p:cNvPr id="196" name="Google Shape;196;p9"/>
          <p:cNvSpPr/>
          <p:nvPr/>
        </p:nvSpPr>
        <p:spPr>
          <a:xfrm>
            <a:off x="3200400" y="1874520"/>
            <a:ext cx="2194560" cy="118872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600">
                <a:solidFill>
                  <a:srgbClr val="C85A32"/>
                </a:solidFill>
                <a:latin typeface="Plus Jakarta Sans"/>
                <a:ea typeface="Plus Jakarta Sans"/>
                <a:cs typeface="Plus Jakarta Sans"/>
                <a:sym typeface="Plus Jakarta Sans"/>
              </a:rPr>
              <a:t>100%</a:t>
            </a:r>
            <a:endParaRPr/>
          </a:p>
          <a:p>
            <a:pPr indent="0" lvl="0" marL="0" marR="0" rtl="0" algn="ctr">
              <a:spcBef>
                <a:spcPts val="400"/>
              </a:spcBef>
              <a:spcAft>
                <a:spcPts val="0"/>
              </a:spcAft>
              <a:buNone/>
            </a:pPr>
            <a:r>
              <a:rPr b="0" lang="en-US" sz="1300">
                <a:solidFill>
                  <a:srgbClr val="6B655A"/>
                </a:solidFill>
                <a:latin typeface="Plus Jakarta Sans"/>
                <a:ea typeface="Plus Jakarta Sans"/>
                <a:cs typeface="Plus Jakarta Sans"/>
                <a:sym typeface="Plus Jakarta Sans"/>
              </a:rPr>
              <a:t>Reasoning Visibility</a:t>
            </a:r>
            <a:endParaRPr/>
          </a:p>
        </p:txBody>
      </p:sp>
      <p:sp>
        <p:nvSpPr>
          <p:cNvPr id="197" name="Google Shape;197;p9"/>
          <p:cNvSpPr txBox="1"/>
          <p:nvPr/>
        </p:nvSpPr>
        <p:spPr>
          <a:xfrm>
            <a:off x="731520" y="3337560"/>
            <a:ext cx="475488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C85A32"/>
                </a:solidFill>
                <a:latin typeface="Plus Jakarta Sans"/>
                <a:ea typeface="Plus Jakarta Sans"/>
                <a:cs typeface="Plus Jakarta Sans"/>
                <a:sym typeface="Plus Jakarta Sans"/>
              </a:rPr>
              <a:t>WHAT CHANGES</a:t>
            </a:r>
            <a:endParaRPr/>
          </a:p>
          <a:p>
            <a:pPr indent="0" lvl="0" marL="0" marR="0" rtl="0" algn="l">
              <a:spcBef>
                <a:spcPts val="200"/>
              </a:spcBef>
              <a:spcAft>
                <a:spcPts val="0"/>
              </a:spcAft>
              <a:buNone/>
            </a:pPr>
            <a:r>
              <a:rPr b="1" lang="en-US" sz="1400">
                <a:solidFill>
                  <a:srgbClr val="3A3730"/>
                </a:solidFill>
                <a:latin typeface="Plus Jakarta Sans"/>
                <a:ea typeface="Plus Jakarta Sans"/>
                <a:cs typeface="Plus Jakarta Sans"/>
                <a:sym typeface="Plus Jakarta Sans"/>
              </a:rPr>
              <a:t>•  Students assessed through engagement,</a:t>
            </a:r>
            <a:r>
              <a:rPr b="0" lang="en-US" sz="1400">
                <a:solidFill>
                  <a:srgbClr val="3A3730"/>
                </a:solidFill>
                <a:latin typeface="Plus Jakarta Sans"/>
                <a:ea typeface="Plus Jakarta Sans"/>
                <a:cs typeface="Plus Jakarta Sans"/>
                <a:sym typeface="Plus Jakarta Sans"/>
              </a:rPr>
              <a:t> not pressure</a:t>
            </a:r>
            <a:endParaRPr/>
          </a:p>
          <a:p>
            <a:pPr indent="0" lvl="0" marL="0" marR="0" rtl="0" algn="l">
              <a:spcBef>
                <a:spcPts val="600"/>
              </a:spcBef>
              <a:spcAft>
                <a:spcPts val="0"/>
              </a:spcAft>
              <a:buNone/>
            </a:pPr>
            <a:r>
              <a:rPr b="1" lang="en-US" sz="1400">
                <a:solidFill>
                  <a:srgbClr val="3A3730"/>
                </a:solidFill>
                <a:latin typeface="Plus Jakarta Sans"/>
                <a:ea typeface="Plus Jakarta Sans"/>
                <a:cs typeface="Plus Jakarta Sans"/>
                <a:sym typeface="Plus Jakarta Sans"/>
              </a:rPr>
              <a:t>•  Educators see thought processes,</a:t>
            </a:r>
            <a:r>
              <a:rPr b="0" lang="en-US" sz="1400">
                <a:solidFill>
                  <a:srgbClr val="3A3730"/>
                </a:solidFill>
                <a:latin typeface="Plus Jakarta Sans"/>
                <a:ea typeface="Plus Jakarta Sans"/>
                <a:cs typeface="Plus Jakarta Sans"/>
                <a:sym typeface="Plus Jakarta Sans"/>
              </a:rPr>
              <a:t> not just grades</a:t>
            </a:r>
            <a:endParaRPr/>
          </a:p>
          <a:p>
            <a:pPr indent="0" lvl="0" marL="0" marR="0" rtl="0" algn="l">
              <a:spcBef>
                <a:spcPts val="600"/>
              </a:spcBef>
              <a:spcAft>
                <a:spcPts val="0"/>
              </a:spcAft>
              <a:buNone/>
            </a:pPr>
            <a:r>
              <a:rPr b="1" lang="en-US" sz="1400">
                <a:solidFill>
                  <a:srgbClr val="3A3730"/>
                </a:solidFill>
                <a:latin typeface="Plus Jakarta Sans"/>
                <a:ea typeface="Plus Jakarta Sans"/>
                <a:cs typeface="Plus Jakarta Sans"/>
                <a:sym typeface="Plus Jakarta Sans"/>
              </a:rPr>
              <a:t>•  Curriculum alignment is automated,</a:t>
            </a:r>
            <a:r>
              <a:rPr b="0" lang="en-US" sz="1400">
                <a:solidFill>
                  <a:srgbClr val="3A3730"/>
                </a:solidFill>
                <a:latin typeface="Plus Jakarta Sans"/>
                <a:ea typeface="Plus Jakarta Sans"/>
                <a:cs typeface="Plus Jakarta Sans"/>
                <a:sym typeface="Plus Jakarta Sans"/>
              </a:rPr>
              <a:t> not manual</a:t>
            </a:r>
            <a:endParaRPr/>
          </a:p>
        </p:txBody>
      </p:sp>
      <p:sp>
        <p:nvSpPr>
          <p:cNvPr id="198" name="Google Shape;198;p9"/>
          <p:cNvSpPr txBox="1"/>
          <p:nvPr/>
        </p:nvSpPr>
        <p:spPr>
          <a:xfrm>
            <a:off x="6400800" y="1874520"/>
            <a:ext cx="475488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rgbClr val="C85A32"/>
                </a:solidFill>
                <a:latin typeface="Plus Jakarta Sans"/>
                <a:ea typeface="Plus Jakarta Sans"/>
                <a:cs typeface="Plus Jakarta Sans"/>
                <a:sym typeface="Plus Jakarta Sans"/>
              </a:rPr>
              <a:t>ROADMAP</a:t>
            </a:r>
            <a:endParaRPr/>
          </a:p>
        </p:txBody>
      </p:sp>
      <p:sp>
        <p:nvSpPr>
          <p:cNvPr id="199" name="Google Shape;199;p9"/>
          <p:cNvSpPr/>
          <p:nvPr/>
        </p:nvSpPr>
        <p:spPr>
          <a:xfrm>
            <a:off x="6400800" y="2286000"/>
            <a:ext cx="4754880" cy="2926080"/>
          </a:xfrm>
          <a:prstGeom prst="roundRect">
            <a:avLst>
              <a:gd fmla="val 16667" name="adj"/>
            </a:avLst>
          </a:prstGeom>
          <a:solidFill>
            <a:srgbClr val="FFFFFF"/>
          </a:solidFill>
          <a:ln cap="flat" cmpd="sng" w="12700">
            <a:solidFill>
              <a:srgbClr val="E8E3D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l">
              <a:spcBef>
                <a:spcPts val="200"/>
              </a:spcBef>
              <a:spcAft>
                <a:spcPts val="0"/>
              </a:spcAft>
              <a:buNone/>
            </a:pPr>
            <a:r>
              <a:rPr b="1" lang="en-US" sz="1400">
                <a:solidFill>
                  <a:srgbClr val="3A3730"/>
                </a:solidFill>
                <a:latin typeface="Plus Jakarta Sans"/>
                <a:ea typeface="Plus Jakarta Sans"/>
                <a:cs typeface="Plus Jakarta Sans"/>
                <a:sym typeface="Plus Jakarta Sans"/>
              </a:rPr>
              <a:t>•  Multi-language</a:t>
            </a:r>
            <a:r>
              <a:rPr b="0" lang="en-US" sz="1400">
                <a:solidFill>
                  <a:srgbClr val="3A3730"/>
                </a:solidFill>
                <a:latin typeface="Plus Jakarta Sans"/>
                <a:ea typeface="Plus Jakarta Sans"/>
                <a:cs typeface="Plus Jakarta Sans"/>
                <a:sym typeface="Plus Jakarta Sans"/>
              </a:rPr>
              <a:t> narrative support</a:t>
            </a:r>
            <a:endParaRPr/>
          </a:p>
          <a:p>
            <a:pPr indent="0" lvl="0" marL="0" marR="0" rtl="0" algn="l">
              <a:spcBef>
                <a:spcPts val="600"/>
              </a:spcBef>
              <a:spcAft>
                <a:spcPts val="0"/>
              </a:spcAft>
              <a:buNone/>
            </a:pPr>
            <a:r>
              <a:rPr b="1" lang="en-US" sz="1400">
                <a:solidFill>
                  <a:srgbClr val="3A3730"/>
                </a:solidFill>
                <a:latin typeface="Plus Jakarta Sans"/>
                <a:ea typeface="Plus Jakarta Sans"/>
                <a:cs typeface="Plus Jakarta Sans"/>
                <a:sym typeface="Plus Jakarta Sans"/>
              </a:rPr>
              <a:t>•  LMS integration</a:t>
            </a:r>
            <a:r>
              <a:rPr b="0" lang="en-US" sz="1400">
                <a:solidFill>
                  <a:srgbClr val="3A3730"/>
                </a:solidFill>
                <a:latin typeface="Plus Jakarta Sans"/>
                <a:ea typeface="Plus Jakarta Sans"/>
                <a:cs typeface="Plus Jakarta Sans"/>
                <a:sym typeface="Plus Jakarta Sans"/>
              </a:rPr>
              <a:t> (Moodle, Canvas, Blackboard)</a:t>
            </a:r>
            <a:endParaRPr/>
          </a:p>
          <a:p>
            <a:pPr indent="0" lvl="0" marL="0" marR="0" rtl="0" algn="l">
              <a:spcBef>
                <a:spcPts val="600"/>
              </a:spcBef>
              <a:spcAft>
                <a:spcPts val="0"/>
              </a:spcAft>
              <a:buNone/>
            </a:pPr>
            <a:r>
              <a:rPr b="1" lang="en-US" sz="1400">
                <a:solidFill>
                  <a:srgbClr val="3A3730"/>
                </a:solidFill>
                <a:latin typeface="Plus Jakarta Sans"/>
                <a:ea typeface="Plus Jakarta Sans"/>
                <a:cs typeface="Plus Jakarta Sans"/>
                <a:sym typeface="Plus Jakarta Sans"/>
              </a:rPr>
              <a:t>•  Collaborative</a:t>
            </a:r>
            <a:r>
              <a:rPr b="0" lang="en-US" sz="1400">
                <a:solidFill>
                  <a:srgbClr val="3A3730"/>
                </a:solidFill>
                <a:latin typeface="Plus Jakarta Sans"/>
                <a:ea typeface="Plus Jakarta Sans"/>
                <a:cs typeface="Plus Jakarta Sans"/>
                <a:sym typeface="Plus Jakarta Sans"/>
              </a:rPr>
              <a:t> multiplayer VN scenarios</a:t>
            </a:r>
            <a:endParaRPr/>
          </a:p>
          <a:p>
            <a:pPr indent="0" lvl="0" marL="0" marR="0" rtl="0" algn="l">
              <a:spcBef>
                <a:spcPts val="600"/>
              </a:spcBef>
              <a:spcAft>
                <a:spcPts val="0"/>
              </a:spcAft>
              <a:buNone/>
            </a:pPr>
            <a:r>
              <a:rPr b="1" lang="en-US" sz="1400">
                <a:solidFill>
                  <a:srgbClr val="3A3730"/>
                </a:solidFill>
                <a:latin typeface="Plus Jakarta Sans"/>
                <a:ea typeface="Plus Jakarta Sans"/>
                <a:cs typeface="Plus Jakarta Sans"/>
                <a:sym typeface="Plus Jakarta Sans"/>
              </a:rPr>
              <a:t>•  Global curricula</a:t>
            </a:r>
            <a:r>
              <a:rPr b="0" lang="en-US" sz="1400">
                <a:solidFill>
                  <a:srgbClr val="3A3730"/>
                </a:solidFill>
                <a:latin typeface="Plus Jakarta Sans"/>
                <a:ea typeface="Plus Jakarta Sans"/>
                <a:cs typeface="Plus Jakarta Sans"/>
                <a:sym typeface="Plus Jakarta Sans"/>
              </a:rPr>
              <a:t> beyond Australian standards</a:t>
            </a:r>
            <a:endParaRPr/>
          </a:p>
          <a:p>
            <a:pPr indent="0" lvl="0" marL="0" marR="0" rtl="0" algn="l">
              <a:spcBef>
                <a:spcPts val="600"/>
              </a:spcBef>
              <a:spcAft>
                <a:spcPts val="0"/>
              </a:spcAft>
              <a:buNone/>
            </a:pPr>
            <a:r>
              <a:rPr b="1" lang="en-US" sz="1400">
                <a:solidFill>
                  <a:srgbClr val="3A3730"/>
                </a:solidFill>
                <a:latin typeface="Plus Jakarta Sans"/>
                <a:ea typeface="Plus Jakarta Sans"/>
                <a:cs typeface="Plus Jakarta Sans"/>
                <a:sym typeface="Plus Jakarta Sans"/>
              </a:rPr>
              <a:t>•  Voice interaction</a:t>
            </a:r>
            <a:r>
              <a:rPr b="0" lang="en-US" sz="1400">
                <a:solidFill>
                  <a:srgbClr val="3A3730"/>
                </a:solidFill>
                <a:latin typeface="Plus Jakarta Sans"/>
                <a:ea typeface="Plus Jakarta Sans"/>
                <a:cs typeface="Plus Jakarta Sans"/>
                <a:sym typeface="Plus Jakarta Sans"/>
              </a:rPr>
              <a:t> via Gemini TTS/STT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C18"/>
        </a:solidFill>
      </p:bgPr>
    </p:bg>
    <p:spTree>
      <p:nvGrpSpPr>
        <p:cNvPr id="204" name="Shape 204"/>
        <p:cNvGrpSpPr/>
        <p:nvPr/>
      </p:nvGrpSpPr>
      <p:grpSpPr>
        <a:xfrm>
          <a:off x="0" y="0"/>
          <a:ext cx="0" cy="0"/>
          <a:chOff x="0" y="0"/>
          <a:chExt cx="0" cy="0"/>
        </a:xfrm>
      </p:grpSpPr>
      <p:sp>
        <p:nvSpPr>
          <p:cNvPr id="205" name="Google Shape;205;p10"/>
          <p:cNvSpPr txBox="1"/>
          <p:nvPr/>
        </p:nvSpPr>
        <p:spPr>
          <a:xfrm>
            <a:off x="1371600" y="1097280"/>
            <a:ext cx="9418320" cy="914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800">
                <a:solidFill>
                  <a:srgbClr val="F4F1EA"/>
                </a:solidFill>
                <a:latin typeface="Plus Jakarta Sans"/>
                <a:ea typeface="Plus Jakarta Sans"/>
                <a:cs typeface="Plus Jakarta Sans"/>
                <a:sym typeface="Plus Jakarta Sans"/>
              </a:rPr>
              <a:t>Thank You</a:t>
            </a:r>
            <a:endParaRPr/>
          </a:p>
        </p:txBody>
      </p:sp>
      <p:sp>
        <p:nvSpPr>
          <p:cNvPr id="206" name="Google Shape;206;p10"/>
          <p:cNvSpPr/>
          <p:nvPr/>
        </p:nvSpPr>
        <p:spPr>
          <a:xfrm>
            <a:off x="5303520" y="2148840"/>
            <a:ext cx="1554480" cy="63500"/>
          </a:xfrm>
          <a:prstGeom prst="rect">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p10"/>
          <p:cNvSpPr txBox="1"/>
          <p:nvPr/>
        </p:nvSpPr>
        <p:spPr>
          <a:xfrm>
            <a:off x="1828800" y="2468880"/>
            <a:ext cx="850392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800">
                <a:solidFill>
                  <a:srgbClr val="C8C4BA"/>
                </a:solidFill>
                <a:latin typeface="Plus Jakarta Sans"/>
                <a:ea typeface="Plus Jakarta Sans"/>
                <a:cs typeface="Plus Jakarta Sans"/>
                <a:sym typeface="Plus Jakarta Sans"/>
              </a:rPr>
              <a:t>Redefining assessment, one story at a time.</a:t>
            </a:r>
            <a:endParaRPr/>
          </a:p>
        </p:txBody>
      </p:sp>
      <p:sp>
        <p:nvSpPr>
          <p:cNvPr id="208" name="Google Shape;208;p10"/>
          <p:cNvSpPr txBox="1"/>
          <p:nvPr/>
        </p:nvSpPr>
        <p:spPr>
          <a:xfrm>
            <a:off x="1828800" y="3291840"/>
            <a:ext cx="2743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a:solidFill>
                  <a:srgbClr val="F4F1EA"/>
                </a:solidFill>
                <a:latin typeface="Plus Jakarta Sans"/>
                <a:ea typeface="Plus Jakarta Sans"/>
                <a:cs typeface="Plus Jakarta Sans"/>
                <a:sym typeface="Plus Jakarta Sans"/>
              </a:rPr>
              <a:t>Jordan</a:t>
            </a:r>
            <a:endParaRPr/>
          </a:p>
        </p:txBody>
      </p:sp>
      <p:sp>
        <p:nvSpPr>
          <p:cNvPr id="209" name="Google Shape;209;p10"/>
          <p:cNvSpPr txBox="1"/>
          <p:nvPr/>
        </p:nvSpPr>
        <p:spPr>
          <a:xfrm>
            <a:off x="1828800" y="3657600"/>
            <a:ext cx="2743200" cy="3200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300">
                <a:solidFill>
                  <a:srgbClr val="C4A245"/>
                </a:solidFill>
                <a:latin typeface="Plus Jakarta Sans"/>
                <a:ea typeface="Plus Jakarta Sans"/>
                <a:cs typeface="Plus Jakarta Sans"/>
                <a:sym typeface="Plus Jakarta Sans"/>
              </a:rPr>
              <a:t>Frontend + Narrative Arc</a:t>
            </a:r>
            <a:endParaRPr/>
          </a:p>
        </p:txBody>
      </p:sp>
      <p:sp>
        <p:nvSpPr>
          <p:cNvPr id="210" name="Google Shape;210;p10"/>
          <p:cNvSpPr txBox="1"/>
          <p:nvPr/>
        </p:nvSpPr>
        <p:spPr>
          <a:xfrm>
            <a:off x="4846320" y="3291840"/>
            <a:ext cx="2743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a:solidFill>
                  <a:srgbClr val="F4F1EA"/>
                </a:solidFill>
                <a:latin typeface="Plus Jakarta Sans"/>
                <a:ea typeface="Plus Jakarta Sans"/>
                <a:cs typeface="Plus Jakarta Sans"/>
                <a:sym typeface="Plus Jakarta Sans"/>
              </a:rPr>
              <a:t>Liu</a:t>
            </a:r>
            <a:endParaRPr/>
          </a:p>
        </p:txBody>
      </p:sp>
      <p:sp>
        <p:nvSpPr>
          <p:cNvPr id="211" name="Google Shape;211;p10"/>
          <p:cNvSpPr txBox="1"/>
          <p:nvPr/>
        </p:nvSpPr>
        <p:spPr>
          <a:xfrm>
            <a:off x="4846320" y="3657600"/>
            <a:ext cx="2743200" cy="3200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300">
                <a:solidFill>
                  <a:srgbClr val="C4A245"/>
                </a:solidFill>
                <a:latin typeface="Plus Jakarta Sans"/>
                <a:ea typeface="Plus Jakarta Sans"/>
                <a:cs typeface="Plus Jakarta Sans"/>
                <a:sym typeface="Plus Jakarta Sans"/>
              </a:rPr>
              <a:t>Backend + Cloud</a:t>
            </a:r>
            <a:endParaRPr/>
          </a:p>
        </p:txBody>
      </p:sp>
      <p:sp>
        <p:nvSpPr>
          <p:cNvPr id="212" name="Google Shape;212;p10"/>
          <p:cNvSpPr txBox="1"/>
          <p:nvPr/>
        </p:nvSpPr>
        <p:spPr>
          <a:xfrm>
            <a:off x="7863840" y="3291840"/>
            <a:ext cx="2743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a:solidFill>
                  <a:srgbClr val="F4F1EA"/>
                </a:solidFill>
                <a:latin typeface="Plus Jakarta Sans"/>
                <a:ea typeface="Plus Jakarta Sans"/>
                <a:cs typeface="Plus Jakarta Sans"/>
                <a:sym typeface="Plus Jakarta Sans"/>
              </a:rPr>
              <a:t>Adrian</a:t>
            </a:r>
            <a:endParaRPr/>
          </a:p>
        </p:txBody>
      </p:sp>
      <p:sp>
        <p:nvSpPr>
          <p:cNvPr id="213" name="Google Shape;213;p10"/>
          <p:cNvSpPr txBox="1"/>
          <p:nvPr/>
        </p:nvSpPr>
        <p:spPr>
          <a:xfrm>
            <a:off x="7863840" y="3657600"/>
            <a:ext cx="2743200" cy="3200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300">
                <a:solidFill>
                  <a:srgbClr val="C4A245"/>
                </a:solidFill>
                <a:latin typeface="Plus Jakarta Sans"/>
                <a:ea typeface="Plus Jakarta Sans"/>
                <a:cs typeface="Plus Jakarta Sans"/>
                <a:sym typeface="Plus Jakarta Sans"/>
              </a:rPr>
              <a:t>Assets + Infrastructure</a:t>
            </a:r>
            <a:endParaRPr/>
          </a:p>
        </p:txBody>
      </p:sp>
      <p:sp>
        <p:nvSpPr>
          <p:cNvPr id="214" name="Google Shape;214;p10"/>
          <p:cNvSpPr txBox="1"/>
          <p:nvPr/>
        </p:nvSpPr>
        <p:spPr>
          <a:xfrm>
            <a:off x="1828800" y="4572000"/>
            <a:ext cx="850392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400">
                <a:solidFill>
                  <a:srgbClr val="C8C4BA"/>
                </a:solidFill>
                <a:latin typeface="Plus Jakarta Sans"/>
                <a:ea typeface="Plus Jakarta Sans"/>
                <a:cs typeface="Plus Jakarta Sans"/>
                <a:sym typeface="Plus Jakarta Sans"/>
              </a:rPr>
              <a:t>GitHub   github.com/SynAeri/IncubedHackathon</a:t>
            </a:r>
            <a:endParaRPr/>
          </a:p>
        </p:txBody>
      </p:sp>
      <p:sp>
        <p:nvSpPr>
          <p:cNvPr id="215" name="Google Shape;215;p10"/>
          <p:cNvSpPr/>
          <p:nvPr/>
        </p:nvSpPr>
        <p:spPr>
          <a:xfrm>
            <a:off x="2926080" y="5212080"/>
            <a:ext cx="1371600" cy="320040"/>
          </a:xfrm>
          <a:prstGeom prst="roundRect">
            <a:avLst>
              <a:gd fmla="val 16667" name="adj"/>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4F1EA"/>
                </a:solidFill>
                <a:latin typeface="Plus Jakarta Sans"/>
                <a:ea typeface="Plus Jakarta Sans"/>
                <a:cs typeface="Plus Jakarta Sans"/>
                <a:sym typeface="Plus Jakarta Sans"/>
              </a:rPr>
              <a:t>Next.js 16</a:t>
            </a:r>
            <a:endParaRPr/>
          </a:p>
        </p:txBody>
      </p:sp>
      <p:sp>
        <p:nvSpPr>
          <p:cNvPr id="216" name="Google Shape;216;p10"/>
          <p:cNvSpPr/>
          <p:nvPr/>
        </p:nvSpPr>
        <p:spPr>
          <a:xfrm>
            <a:off x="4434840" y="5212080"/>
            <a:ext cx="1042415" cy="320040"/>
          </a:xfrm>
          <a:prstGeom prst="roundRect">
            <a:avLst>
              <a:gd fmla="val 16667" name="adj"/>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4F1EA"/>
                </a:solidFill>
                <a:latin typeface="Plus Jakarta Sans"/>
                <a:ea typeface="Plus Jakarta Sans"/>
                <a:cs typeface="Plus Jakarta Sans"/>
                <a:sym typeface="Plus Jakarta Sans"/>
              </a:rPr>
              <a:t>FastAPI</a:t>
            </a:r>
            <a:endParaRPr/>
          </a:p>
        </p:txBody>
      </p:sp>
      <p:sp>
        <p:nvSpPr>
          <p:cNvPr id="217" name="Google Shape;217;p10"/>
          <p:cNvSpPr/>
          <p:nvPr/>
        </p:nvSpPr>
        <p:spPr>
          <a:xfrm>
            <a:off x="5614415" y="5212080"/>
            <a:ext cx="1152144" cy="320040"/>
          </a:xfrm>
          <a:prstGeom prst="roundRect">
            <a:avLst>
              <a:gd fmla="val 16667" name="adj"/>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4F1EA"/>
                </a:solidFill>
                <a:latin typeface="Plus Jakarta Sans"/>
                <a:ea typeface="Plus Jakarta Sans"/>
                <a:cs typeface="Plus Jakarta Sans"/>
                <a:sym typeface="Plus Jakarta Sans"/>
              </a:rPr>
              <a:t>Firebase</a:t>
            </a:r>
            <a:endParaRPr/>
          </a:p>
        </p:txBody>
      </p:sp>
      <p:sp>
        <p:nvSpPr>
          <p:cNvPr id="218" name="Google Shape;218;p10"/>
          <p:cNvSpPr/>
          <p:nvPr/>
        </p:nvSpPr>
        <p:spPr>
          <a:xfrm>
            <a:off x="6903719" y="5212080"/>
            <a:ext cx="2029967" cy="320040"/>
          </a:xfrm>
          <a:prstGeom prst="roundRect">
            <a:avLst>
              <a:gd fmla="val 16667" name="adj"/>
            </a:avLst>
          </a:prstGeom>
          <a:solidFill>
            <a:srgbClr val="C85A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4F1EA"/>
                </a:solidFill>
                <a:latin typeface="Plus Jakarta Sans"/>
                <a:ea typeface="Plus Jakarta Sans"/>
                <a:cs typeface="Plus Jakarta Sans"/>
                <a:sym typeface="Plus Jakarta Sans"/>
              </a:rPr>
              <a:t>Gemini 2.5 Flash</a:t>
            </a:r>
            <a:endParaRPr/>
          </a:p>
        </p:txBody>
      </p:sp>
      <p:sp>
        <p:nvSpPr>
          <p:cNvPr id="219" name="Google Shape;219;p10"/>
          <p:cNvSpPr/>
          <p:nvPr/>
        </p:nvSpPr>
        <p:spPr>
          <a:xfrm>
            <a:off x="9070846" y="5212080"/>
            <a:ext cx="1371600" cy="320040"/>
          </a:xfrm>
          <a:prstGeom prst="roundRect">
            <a:avLst>
              <a:gd fmla="val 16667" name="adj"/>
            </a:avLst>
          </a:prstGeom>
          <a:solidFill>
            <a:srgbClr val="C4A24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1E1C18"/>
                </a:solidFill>
                <a:latin typeface="Plus Jakarta Sans"/>
                <a:ea typeface="Plus Jakarta Sans"/>
                <a:cs typeface="Plus Jakarta Sans"/>
                <a:sym typeface="Plus Jakarta Sans"/>
              </a:rPr>
              <a:t>CurricuLLM</a:t>
            </a:r>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548640"/>
            <a:ext cx="10698480" cy="365760"/>
          </a:xfrm>
          <a:prstGeom prst="rect">
            <a:avLst/>
          </a:prstGeom>
          <a:noFill/>
        </p:spPr>
        <p:txBody>
          <a:bodyPr wrap="square" anchor="t"/>
          <a:lstStyle/>
          <a:p>
            <a:pPr algn="l"/>
            <a:r>
              <a:rPr sz="1400" b="1">
                <a:solidFill>
                  <a:srgbClr val="C85A32"/>
                </a:solidFill>
                <a:latin typeface="Plus Jakarta Sans"/>
              </a:rPr>
              <a:t>AI ETHICS</a:t>
            </a:r>
          </a:p>
        </p:txBody>
      </p:sp>
      <p:sp>
        <p:nvSpPr>
          <p:cNvPr id="4" name="TextBox 3"/>
          <p:cNvSpPr txBox="1"/>
          <p:nvPr/>
        </p:nvSpPr>
        <p:spPr>
          <a:xfrm>
            <a:off x="731520" y="960120"/>
            <a:ext cx="10698480" cy="548640"/>
          </a:xfrm>
          <a:prstGeom prst="rect">
            <a:avLst/>
          </a:prstGeom>
          <a:noFill/>
        </p:spPr>
        <p:txBody>
          <a:bodyPr wrap="square" anchor="t"/>
          <a:lstStyle/>
          <a:p>
            <a:pPr algn="l"/>
            <a:r>
              <a:rPr sz="2800" b="1">
                <a:solidFill>
                  <a:srgbClr val="1E1C18"/>
                </a:solidFill>
                <a:latin typeface="Plus Jakarta Sans"/>
              </a:rPr>
              <a:t>Responsible AI by Design</a:t>
            </a:r>
          </a:p>
        </p:txBody>
      </p:sp>
      <p:sp>
        <p:nvSpPr>
          <p:cNvPr id="5" name="Rectangle 4"/>
          <p:cNvSpPr/>
          <p:nvPr/>
        </p:nvSpPr>
        <p:spPr>
          <a:xfrm>
            <a:off x="731520" y="1554480"/>
            <a:ext cx="1005840" cy="63500"/>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20"/>
            <a:ext cx="10698480" cy="548640"/>
          </a:xfrm>
          <a:prstGeom prst="rect">
            <a:avLst/>
          </a:prstGeom>
          <a:noFill/>
        </p:spPr>
        <p:txBody>
          <a:bodyPr wrap="square" anchor="t"/>
          <a:lstStyle/>
          <a:p>
            <a:pPr algn="l"/>
            <a:r>
              <a:rPr sz="1500" b="0">
                <a:solidFill>
                  <a:srgbClr val="3A3730"/>
                </a:solidFill>
                <a:latin typeface="Plus Jakarta Sans"/>
              </a:rPr>
              <a:t>Cervantes embeds ethical safeguards at every layer — from content generation to student interaction to data handling.</a:t>
            </a:r>
          </a:p>
        </p:txBody>
      </p:sp>
      <p:sp>
        <p:nvSpPr>
          <p:cNvPr id="7" name="Rounded Rectangle 6"/>
          <p:cNvSpPr/>
          <p:nvPr/>
        </p:nvSpPr>
        <p:spPr>
          <a:xfrm>
            <a:off x="731520" y="2514600"/>
            <a:ext cx="3383280" cy="1828800"/>
          </a:xfrm>
          <a:prstGeom prst="roundRect">
            <a:avLst/>
          </a:prstGeom>
          <a:solidFill>
            <a:srgbClr val="FFFFFF"/>
          </a:solidFill>
          <a:ln w="12700">
            <a:solidFill>
              <a:srgbClr val="E8E3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a:solidFill>
                  <a:srgbClr val="3B827E"/>
                </a:solidFill>
                <a:latin typeface="Plus Jakarta Sans"/>
              </a:rPr>
              <a:t>⚓  </a:t>
            </a:r>
            <a:r>
              <a:rPr sz="1400" b="1">
                <a:solidFill>
                  <a:srgbClr val="1E1C18"/>
                </a:solidFill>
                <a:latin typeface="Plus Jakarta Sans"/>
              </a:rPr>
              <a:t>Human Oversight</a:t>
            </a:r>
          </a:p>
          <a:p>
            <a:pPr algn="l">
              <a:spcBef>
                <a:spcPts val="0"/>
              </a:spcBef>
              <a:spcAft>
                <a:spcPts val="200"/>
              </a:spcAft>
            </a:pPr>
            <a:r>
              <a:rPr sz="1100" b="0">
                <a:solidFill>
                  <a:srgbClr val="3A3730"/>
                </a:solidFill>
                <a:latin typeface="Plus Jakarta Sans"/>
              </a:rPr>
              <a:t>Teachers review and approve all AI-generated content before students see it. AI proposes — educators decide.</a:t>
            </a:r>
          </a:p>
        </p:txBody>
      </p:sp>
      <p:sp>
        <p:nvSpPr>
          <p:cNvPr id="8" name="Rounded Rectangle 7"/>
          <p:cNvSpPr/>
          <p:nvPr/>
        </p:nvSpPr>
        <p:spPr>
          <a:xfrm>
            <a:off x="4389120" y="2514600"/>
            <a:ext cx="3383280" cy="1828800"/>
          </a:xfrm>
          <a:prstGeom prst="roundRect">
            <a:avLst/>
          </a:prstGeom>
          <a:solidFill>
            <a:srgbClr val="FFFFFF"/>
          </a:solidFill>
          <a:ln w="12700">
            <a:solidFill>
              <a:srgbClr val="E8E3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a:solidFill>
                  <a:srgbClr val="C85A32"/>
                </a:solidFill>
                <a:latin typeface="Plus Jakarta Sans"/>
              </a:rPr>
              <a:t>⚖  </a:t>
            </a:r>
            <a:r>
              <a:rPr sz="1400" b="1">
                <a:solidFill>
                  <a:srgbClr val="1E1C18"/>
                </a:solidFill>
                <a:latin typeface="Plus Jakarta Sans"/>
              </a:rPr>
              <a:t>Fairness &amp; Inclusion</a:t>
            </a:r>
          </a:p>
          <a:p>
            <a:pPr algn="l">
              <a:spcBef>
                <a:spcPts val="0"/>
              </a:spcBef>
              <a:spcAft>
                <a:spcPts val="200"/>
              </a:spcAft>
            </a:pPr>
            <a:r>
              <a:rPr sz="1100" b="0">
                <a:solidFill>
                  <a:srgbClr val="3A3730"/>
                </a:solidFill>
                <a:latin typeface="Plus Jakarta Sans"/>
              </a:rPr>
              <a:t>Socratic pushback evaluates reasoning quality, not language fluency or cultural background. No penalty for non-standard expression.</a:t>
            </a:r>
          </a:p>
        </p:txBody>
      </p:sp>
      <p:sp>
        <p:nvSpPr>
          <p:cNvPr id="9" name="Rounded Rectangle 8"/>
          <p:cNvSpPr/>
          <p:nvPr/>
        </p:nvSpPr>
        <p:spPr>
          <a:xfrm>
            <a:off x="8046720" y="2514600"/>
            <a:ext cx="3383280" cy="1828800"/>
          </a:xfrm>
          <a:prstGeom prst="roundRect">
            <a:avLst/>
          </a:prstGeom>
          <a:solidFill>
            <a:srgbClr val="FFFFFF"/>
          </a:solidFill>
          <a:ln w="12700">
            <a:solidFill>
              <a:srgbClr val="E8E3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a:solidFill>
                  <a:srgbClr val="C4A245"/>
                </a:solidFill>
                <a:latin typeface="Plus Jakarta Sans"/>
              </a:rPr>
              <a:t>⚠  </a:t>
            </a:r>
            <a:r>
              <a:rPr sz="1400" b="1">
                <a:solidFill>
                  <a:srgbClr val="1E1C18"/>
                </a:solidFill>
                <a:latin typeface="Plus Jakarta Sans"/>
              </a:rPr>
              <a:t>Transparency</a:t>
            </a:r>
          </a:p>
          <a:p>
            <a:pPr algn="l">
              <a:spcBef>
                <a:spcPts val="0"/>
              </a:spcBef>
              <a:spcAft>
                <a:spcPts val="200"/>
              </a:spcAft>
            </a:pPr>
            <a:r>
              <a:rPr sz="1100" b="0">
                <a:solidFill>
                  <a:srgbClr val="3A3730"/>
                </a:solidFill>
                <a:latin typeface="Plus Jakarta Sans"/>
              </a:rPr>
              <a:t>Students know they are interacting with AI. Teachers see exactly which AI models generated each scene and assessment.</a:t>
            </a:r>
          </a:p>
        </p:txBody>
      </p:sp>
      <p:sp>
        <p:nvSpPr>
          <p:cNvPr id="10" name="Rounded Rectangle 9"/>
          <p:cNvSpPr/>
          <p:nvPr/>
        </p:nvSpPr>
        <p:spPr>
          <a:xfrm>
            <a:off x="731520" y="4526280"/>
            <a:ext cx="3383280" cy="1828800"/>
          </a:xfrm>
          <a:prstGeom prst="roundRect">
            <a:avLst/>
          </a:prstGeom>
          <a:solidFill>
            <a:srgbClr val="FFFFFF"/>
          </a:solidFill>
          <a:ln w="12700">
            <a:solidFill>
              <a:srgbClr val="E8E3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a:solidFill>
                  <a:srgbClr val="3B827E"/>
                </a:solidFill>
                <a:latin typeface="Plus Jakarta Sans"/>
              </a:rPr>
              <a:t>☕  </a:t>
            </a:r>
            <a:r>
              <a:rPr sz="1400" b="1">
                <a:solidFill>
                  <a:srgbClr val="1E1C18"/>
                </a:solidFill>
                <a:latin typeface="Plus Jakarta Sans"/>
              </a:rPr>
              <a:t>Student Wellbeing</a:t>
            </a:r>
          </a:p>
          <a:p>
            <a:pPr algn="l">
              <a:spcBef>
                <a:spcPts val="0"/>
              </a:spcBef>
              <a:spcAft>
                <a:spcPts val="200"/>
              </a:spcAft>
            </a:pPr>
            <a:r>
              <a:rPr sz="1100" b="0">
                <a:solidFill>
                  <a:srgbClr val="3A3730"/>
                </a:solidFill>
                <a:latin typeface="Plus Jakarta Sans"/>
              </a:rPr>
              <a:t>Narrative format reduces exam anxiety. Socratic dialogue encourages growth, never punishes mistakes or uncertainty.</a:t>
            </a:r>
          </a:p>
        </p:txBody>
      </p:sp>
      <p:sp>
        <p:nvSpPr>
          <p:cNvPr id="11" name="Rounded Rectangle 10"/>
          <p:cNvSpPr/>
          <p:nvPr/>
        </p:nvSpPr>
        <p:spPr>
          <a:xfrm>
            <a:off x="4389120" y="4526280"/>
            <a:ext cx="3383280" cy="1828800"/>
          </a:xfrm>
          <a:prstGeom prst="roundRect">
            <a:avLst/>
          </a:prstGeom>
          <a:solidFill>
            <a:srgbClr val="FFFFFF"/>
          </a:solidFill>
          <a:ln w="12700">
            <a:solidFill>
              <a:srgbClr val="E8E3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a:solidFill>
                  <a:srgbClr val="9E3B3B"/>
                </a:solidFill>
                <a:latin typeface="Plus Jakarta Sans"/>
              </a:rPr>
              <a:t>♠  </a:t>
            </a:r>
            <a:r>
              <a:rPr sz="1400" b="1">
                <a:solidFill>
                  <a:srgbClr val="1E1C18"/>
                </a:solidFill>
                <a:latin typeface="Plus Jakarta Sans"/>
              </a:rPr>
              <a:t>Data Minimisation</a:t>
            </a:r>
          </a:p>
          <a:p>
            <a:pPr algn="l">
              <a:spcBef>
                <a:spcPts val="0"/>
              </a:spcBef>
              <a:spcAft>
                <a:spcPts val="200"/>
              </a:spcAft>
            </a:pPr>
            <a:r>
              <a:rPr sz="1100" b="0">
                <a:solidFill>
                  <a:srgbClr val="3A3730"/>
                </a:solidFill>
                <a:latin typeface="Plus Jakarta Sans"/>
              </a:rPr>
              <a:t>Reasoning traces are treated as protected educational records. Only data necessary for assessment is collected and retained.</a:t>
            </a:r>
          </a:p>
        </p:txBody>
      </p:sp>
      <p:sp>
        <p:nvSpPr>
          <p:cNvPr id="12" name="Rounded Rectangle 11"/>
          <p:cNvSpPr/>
          <p:nvPr/>
        </p:nvSpPr>
        <p:spPr>
          <a:xfrm>
            <a:off x="8046720" y="4526280"/>
            <a:ext cx="3383280" cy="1828800"/>
          </a:xfrm>
          <a:prstGeom prst="roundRect">
            <a:avLst/>
          </a:prstGeom>
          <a:solidFill>
            <a:srgbClr val="FFFFFF"/>
          </a:solidFill>
          <a:ln w="12700">
            <a:solidFill>
              <a:srgbClr val="E8E3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a:solidFill>
                  <a:srgbClr val="C4A245"/>
                </a:solidFill>
                <a:latin typeface="Plus Jakarta Sans"/>
              </a:rPr>
              <a:t>⚙  </a:t>
            </a:r>
            <a:r>
              <a:rPr sz="1400" b="1">
                <a:solidFill>
                  <a:srgbClr val="1E1C18"/>
                </a:solidFill>
                <a:latin typeface="Plus Jakarta Sans"/>
              </a:rPr>
              <a:t>Robustness &amp; Safety</a:t>
            </a:r>
          </a:p>
          <a:p>
            <a:pPr algn="l">
              <a:spcBef>
                <a:spcPts val="0"/>
              </a:spcBef>
              <a:spcAft>
                <a:spcPts val="200"/>
              </a:spcAft>
            </a:pPr>
            <a:r>
              <a:rPr sz="1100" b="0">
                <a:solidFill>
                  <a:srgbClr val="3A3730"/>
                </a:solidFill>
                <a:latin typeface="Plus Jakarta Sans"/>
              </a:rPr>
              <a:t>Gemini outputs are validated against curriculum standards via CurricuLLM. Retry logic and fallbacks prevent hallucinated assessments.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1C18"/>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548640"/>
            <a:ext cx="10698480" cy="365760"/>
          </a:xfrm>
          <a:prstGeom prst="rect">
            <a:avLst/>
          </a:prstGeom>
          <a:noFill/>
        </p:spPr>
        <p:txBody>
          <a:bodyPr wrap="square" anchor="t"/>
          <a:lstStyle/>
          <a:p>
            <a:pPr algn="l"/>
            <a:r>
              <a:rPr sz="1400" b="1">
                <a:solidFill>
                  <a:srgbClr val="C4A245"/>
                </a:solidFill>
                <a:latin typeface="Plus Jakarta Sans"/>
              </a:rPr>
              <a:t>AI ETHICS</a:t>
            </a:r>
          </a:p>
        </p:txBody>
      </p:sp>
      <p:sp>
        <p:nvSpPr>
          <p:cNvPr id="4" name="TextBox 3"/>
          <p:cNvSpPr txBox="1"/>
          <p:nvPr/>
        </p:nvSpPr>
        <p:spPr>
          <a:xfrm>
            <a:off x="731520" y="960120"/>
            <a:ext cx="10698480" cy="548640"/>
          </a:xfrm>
          <a:prstGeom prst="rect">
            <a:avLst/>
          </a:prstGeom>
          <a:noFill/>
        </p:spPr>
        <p:txBody>
          <a:bodyPr wrap="square" anchor="t"/>
          <a:lstStyle/>
          <a:p>
            <a:pPr algn="l"/>
            <a:r>
              <a:rPr sz="2800" b="1">
                <a:solidFill>
                  <a:srgbClr val="F4F1EA"/>
                </a:solidFill>
                <a:latin typeface="Plus Jakarta Sans"/>
              </a:rPr>
              <a:t>Data Privacy &amp; Student Protection</a:t>
            </a:r>
          </a:p>
        </p:txBody>
      </p:sp>
      <p:sp>
        <p:nvSpPr>
          <p:cNvPr id="5" name="Rectangle 4"/>
          <p:cNvSpPr/>
          <p:nvPr/>
        </p:nvSpPr>
        <p:spPr>
          <a:xfrm>
            <a:off x="731520" y="1554480"/>
            <a:ext cx="1005840" cy="63500"/>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5029200" cy="3657600"/>
          </a:xfrm>
          <a:prstGeom prst="roundRect">
            <a:avLst/>
          </a:prstGeom>
          <a:solidFill>
            <a:srgbClr val="2A2720"/>
          </a:solidFill>
          <a:ln w="12700">
            <a:solidFill>
              <a:srgbClr val="504B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200" b="1">
                <a:solidFill>
                  <a:srgbClr val="C85A32"/>
                </a:solidFill>
                <a:latin typeface="Plus Jakarta Sans"/>
              </a:rPr>
              <a:t>WHAT WE PROTECT</a:t>
            </a:r>
          </a:p>
          <a:p>
            <a:pPr>
              <a:spcBef>
                <a:spcPts val="200"/>
              </a:spcBef>
              <a:spcAft>
                <a:spcPts val="400"/>
              </a:spcAft>
            </a:pPr>
            <a:r>
              <a:rPr sz="1200" b="1">
                <a:solidFill>
                  <a:srgbClr val="F4F1EA"/>
                </a:solidFill>
                <a:latin typeface="Plus Jakarta Sans"/>
              </a:rPr>
              <a:t>•  Reasoning Traces</a:t>
            </a:r>
            <a:r>
              <a:rPr sz="1200" b="0">
                <a:solidFill>
                  <a:srgbClr val="F4F1EA"/>
                </a:solidFill>
                <a:latin typeface="Plus Jakarta Sans"/>
              </a:rPr>
              <a:t> — classified as protected educational records, never shared with third parties</a:t>
            </a:r>
          </a:p>
          <a:p>
            <a:pPr>
              <a:spcBef>
                <a:spcPts val="200"/>
              </a:spcBef>
              <a:spcAft>
                <a:spcPts val="400"/>
              </a:spcAft>
            </a:pPr>
            <a:r>
              <a:rPr sz="1200" b="1">
                <a:solidFill>
                  <a:srgbClr val="F4F1EA"/>
                </a:solidFill>
                <a:latin typeface="Plus Jakarta Sans"/>
              </a:rPr>
              <a:t>•  Student Identity</a:t>
            </a:r>
            <a:r>
              <a:rPr sz="1200" b="0">
                <a:solidFill>
                  <a:srgbClr val="F4F1EA"/>
                </a:solidFill>
                <a:latin typeface="Plus Jakarta Sans"/>
              </a:rPr>
              <a:t> — randomised character assignments prevent cross-student data leakage</a:t>
            </a:r>
          </a:p>
          <a:p>
            <a:pPr>
              <a:spcBef>
                <a:spcPts val="200"/>
              </a:spcBef>
              <a:spcAft>
                <a:spcPts val="400"/>
              </a:spcAft>
            </a:pPr>
            <a:r>
              <a:rPr sz="1200" b="1">
                <a:solidFill>
                  <a:srgbClr val="F4F1EA"/>
                </a:solidFill>
                <a:latin typeface="Plus Jakarta Sans"/>
              </a:rPr>
              <a:t>•  Conversation Data</a:t>
            </a:r>
            <a:r>
              <a:rPr sz="1200" b="0">
                <a:solidFill>
                  <a:srgbClr val="F4F1EA"/>
                </a:solidFill>
                <a:latin typeface="Plus Jakarta Sans"/>
              </a:rPr>
              <a:t> — stored in Firestore with project-level access controls</a:t>
            </a:r>
          </a:p>
          <a:p>
            <a:pPr>
              <a:spcBef>
                <a:spcPts val="200"/>
              </a:spcBef>
              <a:spcAft>
                <a:spcPts val="400"/>
              </a:spcAft>
            </a:pPr>
            <a:r>
              <a:rPr sz="1200" b="1">
                <a:solidFill>
                  <a:srgbClr val="F4F1EA"/>
                </a:solidFill>
                <a:latin typeface="Plus Jakarta Sans"/>
              </a:rPr>
              <a:t>•  AI Model Inputs</a:t>
            </a:r>
            <a:r>
              <a:rPr sz="1200" b="0">
                <a:solidFill>
                  <a:srgbClr val="F4F1EA"/>
                </a:solidFill>
                <a:latin typeface="Plus Jakarta Sans"/>
              </a:rPr>
              <a:t> — student responses sent to Gemini API with zero-retention policy</a:t>
            </a:r>
          </a:p>
          <a:p>
            <a:pPr>
              <a:spcBef>
                <a:spcPts val="200"/>
              </a:spcBef>
              <a:spcAft>
                <a:spcPts val="400"/>
              </a:spcAft>
            </a:pPr>
            <a:r>
              <a:rPr sz="1200" b="1">
                <a:solidFill>
                  <a:srgbClr val="F4F1EA"/>
                </a:solidFill>
                <a:latin typeface="Plus Jakarta Sans"/>
              </a:rPr>
              <a:t>•  Assessment Outcomes</a:t>
            </a:r>
            <a:r>
              <a:rPr sz="1200" b="0">
                <a:solidFill>
                  <a:srgbClr val="F4F1EA"/>
                </a:solidFill>
                <a:latin typeface="Plus Jakarta Sans"/>
              </a:rPr>
              <a:t> — visible only to the assigned professor, not other students</a:t>
            </a:r>
          </a:p>
        </p:txBody>
      </p:sp>
      <p:sp>
        <p:nvSpPr>
          <p:cNvPr id="7" name="Rounded Rectangle 6"/>
          <p:cNvSpPr/>
          <p:nvPr/>
        </p:nvSpPr>
        <p:spPr>
          <a:xfrm>
            <a:off x="6400800" y="1920240"/>
            <a:ext cx="4754880" cy="3657600"/>
          </a:xfrm>
          <a:prstGeom prst="roundRect">
            <a:avLst/>
          </a:prstGeom>
          <a:solidFill>
            <a:srgbClr val="2A2720"/>
          </a:solidFill>
          <a:ln w="12700">
            <a:solidFill>
              <a:srgbClr val="504B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200" b="1">
                <a:solidFill>
                  <a:srgbClr val="C4A245"/>
                </a:solidFill>
                <a:latin typeface="Plus Jakarta Sans"/>
              </a:rPr>
              <a:t>ALIGNMENT &amp; COMMITMENTS</a:t>
            </a:r>
          </a:p>
          <a:p>
            <a:pPr>
              <a:spcBef>
                <a:spcPts val="200"/>
              </a:spcBef>
              <a:spcAft>
                <a:spcPts val="400"/>
              </a:spcAft>
            </a:pPr>
            <a:r>
              <a:rPr sz="1200" b="1">
                <a:solidFill>
                  <a:srgbClr val="F4F1EA"/>
                </a:solidFill>
                <a:latin typeface="Plus Jakarta Sans"/>
              </a:rPr>
              <a:t>•  FERPA-Ready</a:t>
            </a:r>
            <a:r>
              <a:rPr sz="1200" b="0">
                <a:solidFill>
                  <a:srgbClr val="F4F1EA"/>
                </a:solidFill>
                <a:latin typeface="Plus Jakarta Sans"/>
              </a:rPr>
              <a:t> — architecture supports Family Educational Rights and Privacy Act compliance</a:t>
            </a:r>
          </a:p>
          <a:p>
            <a:pPr>
              <a:spcBef>
                <a:spcPts val="200"/>
              </a:spcBef>
              <a:spcAft>
                <a:spcPts val="400"/>
              </a:spcAft>
            </a:pPr>
            <a:r>
              <a:rPr sz="1200" b="1">
                <a:solidFill>
                  <a:srgbClr val="F4F1EA"/>
                </a:solidFill>
                <a:latin typeface="Plus Jakarta Sans"/>
              </a:rPr>
              <a:t>•  GDPR Principles</a:t>
            </a:r>
            <a:r>
              <a:rPr sz="1200" b="0">
                <a:solidFill>
                  <a:srgbClr val="F4F1EA"/>
                </a:solidFill>
                <a:latin typeface="Plus Jakarta Sans"/>
              </a:rPr>
              <a:t> — data minimisation, purpose limitation, and right to erasure supported</a:t>
            </a:r>
          </a:p>
          <a:p>
            <a:pPr>
              <a:spcBef>
                <a:spcPts val="200"/>
              </a:spcBef>
              <a:spcAft>
                <a:spcPts val="400"/>
              </a:spcAft>
            </a:pPr>
            <a:r>
              <a:rPr sz="1200" b="1">
                <a:solidFill>
                  <a:srgbClr val="F4F1EA"/>
                </a:solidFill>
                <a:latin typeface="Plus Jakarta Sans"/>
              </a:rPr>
              <a:t>•  Australian Privacy Act</a:t>
            </a:r>
            <a:r>
              <a:rPr sz="1200" b="0">
                <a:solidFill>
                  <a:srgbClr val="F4F1EA"/>
                </a:solidFill>
                <a:latin typeface="Plus Jakarta Sans"/>
              </a:rPr>
              <a:t> — handles student data in accordance with APP guidelines</a:t>
            </a:r>
          </a:p>
          <a:p>
            <a:pPr>
              <a:spcBef>
                <a:spcPts val="200"/>
              </a:spcBef>
              <a:spcAft>
                <a:spcPts val="400"/>
              </a:spcAft>
            </a:pPr>
            <a:r>
              <a:rPr sz="1200" b="1">
                <a:solidFill>
                  <a:srgbClr val="F4F1EA"/>
                </a:solidFill>
                <a:latin typeface="Plus Jakarta Sans"/>
              </a:rPr>
              <a:t>•  UNESCO AI Ethics</a:t>
            </a:r>
            <a:r>
              <a:rPr sz="1200" b="0">
                <a:solidFill>
                  <a:srgbClr val="F4F1EA"/>
                </a:solidFill>
                <a:latin typeface="Plus Jakarta Sans"/>
              </a:rPr>
              <a:t> — aligned with UNESCO Recommendation on Ethics of AI in Education</a:t>
            </a:r>
          </a:p>
          <a:p>
            <a:pPr>
              <a:spcBef>
                <a:spcPts val="200"/>
              </a:spcBef>
              <a:spcAft>
                <a:spcPts val="400"/>
              </a:spcAft>
            </a:pPr>
            <a:r>
              <a:rPr sz="1200" b="1">
                <a:solidFill>
                  <a:srgbClr val="F4F1EA"/>
                </a:solidFill>
                <a:latin typeface="Plus Jakarta Sans"/>
              </a:rPr>
              <a:t>•  Google AI Principles</a:t>
            </a:r>
            <a:r>
              <a:rPr sz="1200" b="0">
                <a:solidFill>
                  <a:srgbClr val="F4F1EA"/>
                </a:solidFill>
                <a:latin typeface="Plus Jakarta Sans"/>
              </a:rPr>
              <a:t> — Gemini usage follows Google's Responsible AI commitments</a:t>
            </a:r>
          </a:p>
        </p:txBody>
      </p:sp>
      <p:sp>
        <p:nvSpPr>
          <p:cNvPr id="8" name="Rounded Rectangle 7"/>
          <p:cNvSpPr/>
          <p:nvPr/>
        </p:nvSpPr>
        <p:spPr>
          <a:xfrm>
            <a:off x="731520" y="5852160"/>
            <a:ext cx="10698480" cy="640080"/>
          </a:xfrm>
          <a:prstGeom prst="roundRect">
            <a:avLst/>
          </a:prstGeom>
          <a:solidFill>
            <a:srgbClr val="C85A32"/>
          </a:solidFill>
          <a:ln w="12700">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4F1EA"/>
                </a:solidFill>
                <a:latin typeface="Plus Jakarta Sans"/>
              </a:rPr>
              <a:t>AI generates and probes  —  Educators control and evaluate  —  Students own their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548640"/>
            <a:ext cx="10698480" cy="365760"/>
          </a:xfrm>
          <a:prstGeom prst="rect">
            <a:avLst/>
          </a:prstGeom>
          <a:noFill/>
        </p:spPr>
        <p:txBody>
          <a:bodyPr wrap="square" anchor="t"/>
          <a:lstStyle/>
          <a:p>
            <a:pPr algn="l"/>
            <a:r>
              <a:rPr sz="1400" b="1">
                <a:solidFill>
                  <a:srgbClr val="C85A32"/>
                </a:solidFill>
                <a:latin typeface="Plus Jakarta Sans"/>
              </a:rPr>
              <a:t>AI ETHICS</a:t>
            </a:r>
          </a:p>
        </p:txBody>
      </p:sp>
      <p:sp>
        <p:nvSpPr>
          <p:cNvPr id="4" name="TextBox 3"/>
          <p:cNvSpPr txBox="1"/>
          <p:nvPr/>
        </p:nvSpPr>
        <p:spPr>
          <a:xfrm>
            <a:off x="731520" y="960120"/>
            <a:ext cx="10698480" cy="548640"/>
          </a:xfrm>
          <a:prstGeom prst="rect">
            <a:avLst/>
          </a:prstGeom>
          <a:noFill/>
        </p:spPr>
        <p:txBody>
          <a:bodyPr wrap="square" anchor="t"/>
          <a:lstStyle/>
          <a:p>
            <a:pPr algn="l"/>
            <a:r>
              <a:rPr sz="2800" b="1">
                <a:solidFill>
                  <a:srgbClr val="1E1C18"/>
                </a:solidFill>
                <a:latin typeface="Plus Jakarta Sans"/>
              </a:rPr>
              <a:t>Bias Mitigation &amp; Assessment Integrity</a:t>
            </a:r>
          </a:p>
        </p:txBody>
      </p:sp>
      <p:sp>
        <p:nvSpPr>
          <p:cNvPr id="5" name="Rectangle 4"/>
          <p:cNvSpPr/>
          <p:nvPr/>
        </p:nvSpPr>
        <p:spPr>
          <a:xfrm>
            <a:off x="731520" y="1554480"/>
            <a:ext cx="1005840" cy="63500"/>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20"/>
            <a:ext cx="5029200" cy="4114800"/>
          </a:xfrm>
          <a:prstGeom prst="rect">
            <a:avLst/>
          </a:prstGeom>
          <a:noFill/>
        </p:spPr>
        <p:txBody>
          <a:bodyPr wrap="square">
            <a:spAutoFit/>
          </a:bodyPr>
          <a:lstStyle/>
          <a:p>
            <a:pPr>
              <a:spcAft>
                <a:spcPts val="800"/>
              </a:spcAft>
            </a:pPr>
            <a:r>
              <a:rPr sz="1200" b="1">
                <a:solidFill>
                  <a:srgbClr val="C85A32"/>
                </a:solidFill>
                <a:latin typeface="Plus Jakarta Sans"/>
              </a:rPr>
              <a:t>HOW WE MITIGATE BIAS</a:t>
            </a:r>
          </a:p>
          <a:p>
            <a:pPr>
              <a:spcBef>
                <a:spcPts val="200"/>
              </a:spcBef>
              <a:spcAft>
                <a:spcPts val="400"/>
              </a:spcAft>
            </a:pPr>
            <a:r>
              <a:rPr sz="1200" b="1">
                <a:solidFill>
                  <a:srgbClr val="3A3730"/>
                </a:solidFill>
                <a:latin typeface="Plus Jakarta Sans"/>
              </a:rPr>
              <a:t>•  Curriculum Grounding</a:t>
            </a:r>
            <a:r>
              <a:rPr sz="1200" b="0">
                <a:solidFill>
                  <a:srgbClr val="3A3730"/>
                </a:solidFill>
                <a:latin typeface="Plus Jakarta Sans"/>
              </a:rPr>
              <a:t> — CurricuLLM anchors all content to official standards, preventing AI hallucination or off-topic assessment</a:t>
            </a:r>
          </a:p>
          <a:p>
            <a:pPr>
              <a:spcBef>
                <a:spcPts val="200"/>
              </a:spcBef>
              <a:spcAft>
                <a:spcPts val="400"/>
              </a:spcAft>
            </a:pPr>
            <a:r>
              <a:rPr sz="1200" b="1">
                <a:solidFill>
                  <a:srgbClr val="3A3730"/>
                </a:solidFill>
                <a:latin typeface="Plus Jakarta Sans"/>
              </a:rPr>
              <a:t>•  Character Randomisation</a:t>
            </a:r>
            <a:r>
              <a:rPr sz="1200" b="0">
                <a:solidFill>
                  <a:srgbClr val="3A3730"/>
                </a:solidFill>
                <a:latin typeface="Plus Jakarta Sans"/>
              </a:rPr>
              <a:t> — students receive different character names, personalities, and sprite variants to prevent stereotyping</a:t>
            </a:r>
          </a:p>
          <a:p>
            <a:pPr>
              <a:spcBef>
                <a:spcPts val="200"/>
              </a:spcBef>
              <a:spcAft>
                <a:spcPts val="400"/>
              </a:spcAft>
            </a:pPr>
            <a:r>
              <a:rPr sz="1200" b="1">
                <a:solidFill>
                  <a:srgbClr val="3A3730"/>
                </a:solidFill>
                <a:latin typeface="Plus Jakarta Sans"/>
              </a:rPr>
              <a:t>•  Reasoning-First Evaluation</a:t>
            </a:r>
            <a:r>
              <a:rPr sz="1200" b="0">
                <a:solidFill>
                  <a:srgbClr val="3A3730"/>
                </a:solidFill>
                <a:latin typeface="Plus Jakarta Sans"/>
              </a:rPr>
              <a:t> — signal extraction judges logical reasoning quality, not grammar, vocabulary, or writing style</a:t>
            </a:r>
          </a:p>
          <a:p>
            <a:pPr>
              <a:spcBef>
                <a:spcPts val="200"/>
              </a:spcBef>
              <a:spcAft>
                <a:spcPts val="400"/>
              </a:spcAft>
            </a:pPr>
            <a:r>
              <a:rPr sz="1200" b="1">
                <a:solidFill>
                  <a:srgbClr val="3A3730"/>
                </a:solidFill>
                <a:latin typeface="Plus Jakarta Sans"/>
              </a:rPr>
              <a:t>•  Socratic Neutrality</a:t>
            </a:r>
            <a:r>
              <a:rPr sz="1200" b="0">
                <a:solidFill>
                  <a:srgbClr val="3A3730"/>
                </a:solidFill>
                <a:latin typeface="Plus Jakarta Sans"/>
              </a:rPr>
              <a:t> — pushback dialogue challenges all students equally, probing misconceptions without assuming deficit</a:t>
            </a:r>
          </a:p>
          <a:p>
            <a:pPr>
              <a:spcBef>
                <a:spcPts val="200"/>
              </a:spcBef>
              <a:spcAft>
                <a:spcPts val="400"/>
              </a:spcAft>
            </a:pPr>
            <a:r>
              <a:rPr sz="1200" b="1">
                <a:solidFill>
                  <a:srgbClr val="3A3730"/>
                </a:solidFill>
                <a:latin typeface="Plus Jakarta Sans"/>
              </a:rPr>
              <a:t>•  Multi-Path Assessment</a:t>
            </a:r>
            <a:r>
              <a:rPr sz="1200" b="0">
                <a:solidFill>
                  <a:srgbClr val="3A3730"/>
                </a:solidFill>
                <a:latin typeface="Plus Jakarta Sans"/>
              </a:rPr>
              <a:t> — branching dialogue allows multiple valid reasoning approaches, respecting diverse thinking styles</a:t>
            </a:r>
          </a:p>
          <a:p>
            <a:pPr>
              <a:spcBef>
                <a:spcPts val="200"/>
              </a:spcBef>
              <a:spcAft>
                <a:spcPts val="400"/>
              </a:spcAft>
            </a:pPr>
            <a:r>
              <a:rPr sz="1200" b="1">
                <a:solidFill>
                  <a:srgbClr val="3A3730"/>
                </a:solidFill>
                <a:latin typeface="Plus Jakarta Sans"/>
              </a:rPr>
              <a:t>•  Teacher Override</a:t>
            </a:r>
            <a:r>
              <a:rPr sz="1200" b="0">
                <a:solidFill>
                  <a:srgbClr val="3A3730"/>
                </a:solidFill>
                <a:latin typeface="Plus Jakarta Sans"/>
              </a:rPr>
              <a:t> — professors can edit any AI-generated scene, question, or misconception target before publishing</a:t>
            </a:r>
          </a:p>
        </p:txBody>
      </p:sp>
      <p:sp>
        <p:nvSpPr>
          <p:cNvPr id="7" name="Rounded Rectangle 6"/>
          <p:cNvSpPr/>
          <p:nvPr/>
        </p:nvSpPr>
        <p:spPr>
          <a:xfrm>
            <a:off x="6400800" y="1874520"/>
            <a:ext cx="4754880" cy="4114800"/>
          </a:xfrm>
          <a:prstGeom prst="roundRect">
            <a:avLst/>
          </a:prstGeom>
          <a:solidFill>
            <a:srgbClr val="FFFFFF"/>
          </a:solidFill>
          <a:ln w="12700">
            <a:solidFill>
              <a:srgbClr val="E8E3D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200"/>
              </a:spcAft>
            </a:pPr>
            <a:r>
              <a:rPr sz="1200" b="1">
                <a:solidFill>
                  <a:srgbClr val="C4A245"/>
                </a:solidFill>
                <a:latin typeface="Plus Jakarta Sans"/>
              </a:rPr>
              <a:t>TRUST ARCHITECTURE</a:t>
            </a:r>
          </a:p>
          <a:p>
            <a:pPr algn="l">
              <a:spcBef>
                <a:spcPts val="600"/>
              </a:spcBef>
              <a:spcAft>
                <a:spcPts val="200"/>
              </a:spcAft>
            </a:pPr>
            <a:r>
              <a:rPr sz="1300" b="1">
                <a:solidFill>
                  <a:srgbClr val="1E1C18"/>
                </a:solidFill>
                <a:latin typeface="Plus Jakarta Sans"/>
              </a:rPr>
              <a:t>①  Curriculum Layer</a:t>
            </a:r>
          </a:p>
          <a:p>
            <a:pPr algn="l">
              <a:spcBef>
                <a:spcPts val="0"/>
              </a:spcBef>
              <a:spcAft>
                <a:spcPts val="400"/>
              </a:spcAft>
            </a:pPr>
            <a:r>
              <a:rPr sz="1100" b="0">
                <a:solidFill>
                  <a:srgbClr val="3A3730"/>
                </a:solidFill>
                <a:latin typeface="Plus Jakarta Sans"/>
              </a:rPr>
              <a:t>CurricuLLM validates learning objectives against national standards</a:t>
            </a:r>
          </a:p>
          <a:p>
            <a:pPr algn="l">
              <a:spcBef>
                <a:spcPts val="600"/>
              </a:spcBef>
              <a:spcAft>
                <a:spcPts val="200"/>
              </a:spcAft>
            </a:pPr>
            <a:r>
              <a:rPr sz="1300" b="1">
                <a:solidFill>
                  <a:srgbClr val="1E1C18"/>
                </a:solidFill>
                <a:latin typeface="Plus Jakarta Sans"/>
              </a:rPr>
              <a:t>②  Generation Layer</a:t>
            </a:r>
          </a:p>
          <a:p>
            <a:pPr algn="l">
              <a:spcBef>
                <a:spcPts val="0"/>
              </a:spcBef>
              <a:spcAft>
                <a:spcPts val="400"/>
              </a:spcAft>
            </a:pPr>
            <a:r>
              <a:rPr sz="1100" b="0">
                <a:solidFill>
                  <a:srgbClr val="3A3730"/>
                </a:solidFill>
                <a:latin typeface="Plus Jakarta Sans"/>
              </a:rPr>
              <a:t>Gemini produces content within curriculum-defined boundaries</a:t>
            </a:r>
          </a:p>
          <a:p>
            <a:pPr algn="l">
              <a:spcBef>
                <a:spcPts val="600"/>
              </a:spcBef>
              <a:spcAft>
                <a:spcPts val="200"/>
              </a:spcAft>
            </a:pPr>
            <a:r>
              <a:rPr sz="1300" b="1">
                <a:solidFill>
                  <a:srgbClr val="1E1C18"/>
                </a:solidFill>
                <a:latin typeface="Plus Jakarta Sans"/>
              </a:rPr>
              <a:t>③  Review Layer</a:t>
            </a:r>
          </a:p>
          <a:p>
            <a:pPr algn="l">
              <a:spcBef>
                <a:spcPts val="0"/>
              </a:spcBef>
              <a:spcAft>
                <a:spcPts val="400"/>
              </a:spcAft>
            </a:pPr>
            <a:r>
              <a:rPr sz="1100" b="0">
                <a:solidFill>
                  <a:srgbClr val="3A3730"/>
                </a:solidFill>
                <a:latin typeface="Plus Jakarta Sans"/>
              </a:rPr>
              <a:t>Professor reviews, edits, and approves before publication</a:t>
            </a:r>
          </a:p>
          <a:p>
            <a:pPr algn="l">
              <a:spcBef>
                <a:spcPts val="600"/>
              </a:spcBef>
              <a:spcAft>
                <a:spcPts val="200"/>
              </a:spcAft>
            </a:pPr>
            <a:r>
              <a:rPr sz="1300" b="1">
                <a:solidFill>
                  <a:srgbClr val="1E1C18"/>
                </a:solidFill>
                <a:latin typeface="Plus Jakarta Sans"/>
              </a:rPr>
              <a:t>④  Interaction Layer</a:t>
            </a:r>
          </a:p>
          <a:p>
            <a:pPr algn="l">
              <a:spcBef>
                <a:spcPts val="0"/>
              </a:spcBef>
              <a:spcAft>
                <a:spcPts val="400"/>
              </a:spcAft>
            </a:pPr>
            <a:r>
              <a:rPr sz="1100" b="0">
                <a:solidFill>
                  <a:srgbClr val="3A3730"/>
                </a:solidFill>
                <a:latin typeface="Plus Jakarta Sans"/>
              </a:rPr>
              <a:t>Socratic dialogue probes reasoning without leading or biasing</a:t>
            </a:r>
          </a:p>
          <a:p>
            <a:pPr algn="l">
              <a:spcBef>
                <a:spcPts val="600"/>
              </a:spcBef>
              <a:spcAft>
                <a:spcPts val="200"/>
              </a:spcAft>
            </a:pPr>
            <a:r>
              <a:rPr sz="1300" b="1">
                <a:solidFill>
                  <a:srgbClr val="1E1C18"/>
                </a:solidFill>
                <a:latin typeface="Plus Jakarta Sans"/>
              </a:rPr>
              <a:t>⑤  Evaluation Layer</a:t>
            </a:r>
          </a:p>
          <a:p>
            <a:pPr algn="l">
              <a:spcBef>
                <a:spcPts val="0"/>
              </a:spcBef>
              <a:spcAft>
                <a:spcPts val="400"/>
              </a:spcAft>
            </a:pPr>
            <a:r>
              <a:rPr sz="1100" b="0">
                <a:solidFill>
                  <a:srgbClr val="3A3730"/>
                </a:solidFill>
                <a:latin typeface="Plus Jakarta Sans"/>
              </a:rPr>
              <a:t>Signal extraction uses rubric-aligned criteria, not AI opinion</a:t>
            </a:r>
          </a:p>
          <a:p>
            <a:pPr algn="l">
              <a:spcBef>
                <a:spcPts val="600"/>
              </a:spcBef>
              <a:spcAft>
                <a:spcPts val="200"/>
              </a:spcAft>
            </a:pPr>
            <a:r>
              <a:rPr sz="1300" b="1">
                <a:solidFill>
                  <a:srgbClr val="1E1C18"/>
                </a:solidFill>
                <a:latin typeface="Plus Jakarta Sans"/>
              </a:rPr>
              <a:t>⑥  Audit Layer</a:t>
            </a:r>
          </a:p>
          <a:p>
            <a:pPr algn="l">
              <a:spcBef>
                <a:spcPts val="0"/>
              </a:spcBef>
              <a:spcAft>
                <a:spcPts val="400"/>
              </a:spcAft>
            </a:pPr>
            <a:r>
              <a:rPr sz="1100" b="0">
                <a:solidFill>
                  <a:srgbClr val="3A3730"/>
                </a:solidFill>
                <a:latin typeface="Plus Jakarta Sans"/>
              </a:rPr>
              <a:t>Full reasoning traces stored for transparency and appeals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