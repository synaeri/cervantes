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0" y="914400"/>
            <a:ext cx="1005840" cy="10058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4F1EA"/>
                </a:solidFill>
                <a:latin typeface="Plus Jakarta Sans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5400" b="1">
                <a:solidFill>
                  <a:srgbClr val="1E1C18"/>
                </a:solidFill>
                <a:latin typeface="Plus Jakarta Sans"/>
              </a:rPr>
              <a:t>CERVANTES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337560"/>
            <a:ext cx="155448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611880"/>
            <a:ext cx="85039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C85A32"/>
                </a:solidFill>
                <a:latin typeface="Plus Jakarta Sans"/>
              </a:rPr>
              <a:t>Narrative-Driven Assessment for Higher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6B655A"/>
                </a:solidFill>
                <a:latin typeface="Plus Jakarta Sans"/>
              </a:rPr>
              <a:t>Cambridge EdTech x Hack 2026  —  EduX Challenge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5029200"/>
            <a:ext cx="932688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Jordan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41848" y="5029200"/>
            <a:ext cx="914400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Liu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93408" y="5029200"/>
            <a:ext cx="932688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Adrian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Traditional Assessments Are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A3730"/>
                </a:solidFill>
                <a:latin typeface="Plus Jakarta Sans"/>
              </a:rPr>
              <a:t>•  High-stakes exams</a:t>
            </a:r>
            <a:r>
              <a:rPr sz="1500" b="0">
                <a:solidFill>
                  <a:srgbClr val="3A3730"/>
                </a:solidFill>
                <a:latin typeface="Plus Jakarta Sans"/>
              </a:rPr>
              <a:t> measure recall under pressure, not genuine understanding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A3730"/>
                </a:solidFill>
                <a:latin typeface="Plus Jakarta Sans"/>
              </a:rPr>
              <a:t>•  Rigid formats</a:t>
            </a:r>
            <a:r>
              <a:rPr sz="1500" b="0">
                <a:solidFill>
                  <a:srgbClr val="3A3730"/>
                </a:solidFill>
                <a:latin typeface="Plus Jakarta Sans"/>
              </a:rPr>
              <a:t> reduce rich learning to multiple choice and short answers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A3730"/>
                </a:solidFill>
                <a:latin typeface="Plus Jakarta Sans"/>
              </a:rPr>
              <a:t>•  No reasoning visibility</a:t>
            </a:r>
            <a:r>
              <a:rPr sz="1500" b="0">
                <a:solidFill>
                  <a:srgbClr val="3A3730"/>
                </a:solidFill>
                <a:latin typeface="Plus Jakarta Sans"/>
              </a:rPr>
              <a:t> — educators see scores, never thought processes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500" b="1">
                <a:solidFill>
                  <a:srgbClr val="3A3730"/>
                </a:solidFill>
                <a:latin typeface="Plus Jakarta Sans"/>
              </a:rPr>
              <a:t>•  Student anxiety</a:t>
            </a:r>
            <a:r>
              <a:rPr sz="1500" b="0">
                <a:solidFill>
                  <a:srgbClr val="3A3730"/>
                </a:solidFill>
                <a:latin typeface="Plus Jakarta Sans"/>
              </a:rPr>
              <a:t> distorts performance and undermines learning 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20"/>
            <a:ext cx="47548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THE GAP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3A3730"/>
                </a:solidFill>
                <a:latin typeface="Plus Jakarta Sans"/>
              </a:rPr>
              <a:t>Universities need assessments that reveal how students think — not just what they remember.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3730"/>
                </a:solidFill>
                <a:latin typeface="Plus Jakarta Sans"/>
              </a:rPr>
              <a:t>Current tools offer no middle ground between hand-graded essays and automated quizzes.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Assessment Through Interactive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3A3730"/>
                </a:solidFill>
                <a:latin typeface="Plus Jakarta Sans"/>
              </a:rPr>
              <a:t>Cervantes transforms assessment into Visual Novel experiences — curriculum-aligned, AI-generated scenarios where students demonstrate understanding through dialogue and decision-making.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1.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Narrative Immersion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Students engage with characters and scenarios, not question sheets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2.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Socratic Questioning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AI-driven dialogue probes understanding at natural checkpoints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3.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Reasoning Traces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Every decision path is captured, giving educators deep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20"/>
            <a:ext cx="4754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1E1C18"/>
                </a:solidFill>
                <a:latin typeface="Plus Jakarta Sans"/>
              </a:rPr>
              <a:t>Textbook → Interactive Story → Rich Analytics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3A3730"/>
                </a:solidFill>
                <a:latin typeface="Plus Jakarta Sans"/>
              </a:rPr>
              <a:t>Textbook content becomes interactive story, producing rich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709160"/>
            <a:ext cx="2249424" cy="320040"/>
          </a:xfrm>
          <a:prstGeom prst="roundRect">
            <a:avLst/>
          </a:prstGeom>
          <a:solidFill>
            <a:srgbClr val="C4A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1C18"/>
                </a:solidFill>
                <a:latin typeface="Plus Jakarta Sans"/>
              </a:rPr>
              <a:t>Curriculum-Aligned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4584" y="4709160"/>
            <a:ext cx="1591056" cy="320040"/>
          </a:xfrm>
          <a:prstGeom prst="roundRect">
            <a:avLst/>
          </a:prstGeom>
          <a:solidFill>
            <a:srgbClr val="C4A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1C18"/>
                </a:solidFill>
                <a:latin typeface="Plus Jakarta Sans"/>
              </a:rPr>
              <a:t>AI-Generated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0" y="4709160"/>
            <a:ext cx="1261872" cy="320040"/>
          </a:xfrm>
          <a:prstGeom prst="roundRect">
            <a:avLst/>
          </a:prstGeom>
          <a:solidFill>
            <a:srgbClr val="C4A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1C18"/>
                </a:solidFill>
                <a:latin typeface="Plus Jakarta Sans"/>
              </a:rPr>
              <a:t>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TEACHER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From Curriculum to Classroom in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1.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Upload Materials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Subject, module, concept targets, rubric focus (PDF / DOCX / TXT)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2.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CurricuLLM Alignment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Auto-maps content to Australian curriculum standards and rubric structure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3.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Narrative Generation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Gemini builds scenes, characters, Socratic checkpoints, and branching dialogue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C85A32"/>
                </a:solidFill>
                <a:latin typeface="Plus Jakarta Sans"/>
              </a:rPr>
              <a:t>4. </a:t>
            </a:r>
            <a:r>
              <a:rPr sz="1400" b="1">
                <a:solidFill>
                  <a:srgbClr val="1E1C18"/>
                </a:solidFill>
                <a:latin typeface="Plus Jakarta Sans"/>
              </a:rPr>
              <a:t>Review &amp; Publish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     Approve the arc, assign to classes, and monitor live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20"/>
            <a:ext cx="4754880" cy="3200400"/>
          </a:xfrm>
          <a:prstGeom prst="roundRect">
            <a:avLst/>
          </a:prstGeom>
          <a:solidFill>
            <a:srgbClr val="2A2720"/>
          </a:solidFill>
          <a:ln w="19050">
            <a:solidFill>
              <a:srgbClr val="C4A2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C85A32"/>
                </a:solidFill>
                <a:latin typeface="Plus Jakarta Sans"/>
              </a:rPr>
              <a:t>▶</a:t>
            </a:r>
          </a:p>
          <a:p>
            <a:pPr algn="ctr"/>
            <a:r>
              <a:rPr sz="1200" b="1">
                <a:solidFill>
                  <a:srgbClr val="C4A245"/>
                </a:solidFill>
                <a:latin typeface="Plus Jakarta Sans"/>
              </a:rPr>
              <a:t>VIDEO OF TEACHER DASHBOARD DEMO GOES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A245"/>
                </a:solidFill>
                <a:latin typeface="Plus Jakarta Sans"/>
              </a:rP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4F1EA"/>
                </a:solidFill>
                <a:latin typeface="Plus Jakarta Sans"/>
              </a:rPr>
              <a:t>Learn by Living the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5029200" cy="3200400"/>
          </a:xfrm>
          <a:prstGeom prst="roundRect">
            <a:avLst/>
          </a:prstGeom>
          <a:solidFill>
            <a:srgbClr val="2A2720"/>
          </a:solidFill>
          <a:ln w="19050">
            <a:solidFill>
              <a:srgbClr val="C4A2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C85A32"/>
                </a:solidFill>
                <a:latin typeface="Plus Jakarta Sans"/>
              </a:rPr>
              <a:t>▶</a:t>
            </a:r>
          </a:p>
          <a:p>
            <a:pPr algn="ctr"/>
            <a:r>
              <a:rPr sz="1200" b="1">
                <a:solidFill>
                  <a:srgbClr val="C4A245"/>
                </a:solidFill>
                <a:latin typeface="Plus Jakarta Sans"/>
              </a:rPr>
              <a:t>VIDEO OF STUDENT VN EXPERIENCE GOES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20"/>
            <a:ext cx="4754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5A32"/>
                </a:solidFill>
                <a:latin typeface="Plus Jakarta Sans"/>
              </a:rPr>
              <a:t>Narrative Immersion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Characters, scenes, and branching dialogue make assessment feel like gameplay — accessible via PWA on any device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4754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5A32"/>
                </a:solidFill>
                <a:latin typeface="Plus Jakarta Sans"/>
              </a:rPr>
              <a:t>Socratic Checkpoints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AI-driven questions appear at natural story beats, probing understanding without breaking immersion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69080"/>
            <a:ext cx="4754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C85A32"/>
                </a:solidFill>
                <a:latin typeface="Plus Jakarta Sans"/>
              </a:rPr>
              <a:t>Reasoning Journaling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Every choice, response, and dialogue path is captured in arc_journals and reasoning_traces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AI That Understands Curriculum and 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CurricuLLM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Grounds all assessment content in Australian curriculum standards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Concept target extraction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Rubric structure alignment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Misconception identification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745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Gemini 2.5 Flash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Powers narrative generation and real-time dialogue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Scene &amp; character generation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Socratic questioning engine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Adaptive branching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74520"/>
            <a:ext cx="32918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Reasoning Graphs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Captures how students think, not just what they answer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Decision path tracking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Misconception flagging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0">
                <a:solidFill>
                  <a:srgbClr val="3A3730"/>
                </a:solidFill>
                <a:latin typeface="Plus Jakarta Sans"/>
              </a:rPr>
              <a:t>•  Per-student trace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709160"/>
            <a:ext cx="5760720" cy="1645920"/>
          </a:xfrm>
          <a:prstGeom prst="roundRect">
            <a:avLst/>
          </a:prstGeom>
          <a:solidFill>
            <a:srgbClr val="2A2720"/>
          </a:solidFill>
          <a:ln w="19050">
            <a:solidFill>
              <a:srgbClr val="C4A2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C85A32"/>
                </a:solidFill>
                <a:latin typeface="Plus Jakarta Sans"/>
              </a:rPr>
              <a:t>▶</a:t>
            </a:r>
          </a:p>
          <a:p>
            <a:pPr algn="ctr"/>
            <a:r>
              <a:rPr sz="1200" b="1">
                <a:solidFill>
                  <a:srgbClr val="C4A245"/>
                </a:solidFill>
                <a:latin typeface="Plus Jakarta Sans"/>
              </a:rPr>
              <a:t>VIDEO OF REASONING GRAPH DEMO GOES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Full-Stack on Google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30175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A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1E1C18"/>
                </a:solidFill>
                <a:latin typeface="Plus Jakarta Sans"/>
              </a:rPr>
              <a:t>FRONTEND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A3730"/>
                </a:solidFill>
                <a:latin typeface="Plus Jakarta Sans"/>
              </a:rPr>
              <a:t>Next.js 16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Teacher Dashboard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Student PWA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6B655A"/>
                </a:solidFill>
                <a:latin typeface="Plus Jakarta Sans"/>
              </a:rPr>
              <a:t>Vercel Hosting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011680"/>
            <a:ext cx="1554480" cy="320040"/>
          </a:xfrm>
          <a:prstGeom prst="roundRect">
            <a:avLst/>
          </a:prstGeom>
          <a:solidFill>
            <a:srgbClr val="C4A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E1C18"/>
                </a:solidFill>
                <a:latin typeface="Plus Jakarta San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3154680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C85A32"/>
                </a:solidFill>
                <a:latin typeface="Plus Jakarta Sans"/>
              </a:rPr>
              <a:t>REST / API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3520440"/>
            <a:ext cx="640080" cy="228600"/>
          </a:xfrm>
          <a:prstGeom prst="rightArrow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74520"/>
            <a:ext cx="30175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F4F1EA"/>
                </a:solidFill>
                <a:latin typeface="Plus Jakarta Sans"/>
              </a:rPr>
              <a:t>BACKEND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A3730"/>
                </a:solidFill>
                <a:latin typeface="Plus Jakarta Sans"/>
              </a:rPr>
              <a:t>FastAPI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Auth + User Mgmt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Arc Generation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Dialogue Engine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6B655A"/>
                </a:solidFill>
                <a:latin typeface="Plus Jakarta Sans"/>
              </a:rPr>
              <a:t>Google Cloud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554480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154680"/>
            <a:ext cx="822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C85A32"/>
                </a:solidFill>
                <a:latin typeface="Plus Jakarta Sans"/>
              </a:rPr>
              <a:t>SDK / APIs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26680" y="3520440"/>
            <a:ext cx="640080" cy="228600"/>
          </a:xfrm>
          <a:prstGeom prst="rightArrow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874520"/>
            <a:ext cx="30175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8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000" b="1">
                <a:solidFill>
                  <a:srgbClr val="FFFFFF"/>
                </a:solidFill>
                <a:latin typeface="Plus Jakarta Sans"/>
              </a:rPr>
              <a:t>SERVICES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A3730"/>
                </a:solidFill>
                <a:latin typeface="Plus Jakarta Sans"/>
              </a:rPr>
              <a:t>Firebase Auth + Firestore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Gemini 2.5 Flash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3A3730"/>
                </a:solidFill>
                <a:latin typeface="Plus Jakarta Sans"/>
              </a:rPr>
              <a:t>CurricuLLM Standards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6B655A"/>
                </a:solidFill>
                <a:latin typeface="Plus Jakarta Sans"/>
              </a:rPr>
              <a:t>Google Cloud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011680"/>
            <a:ext cx="1554480" cy="320040"/>
          </a:xfrm>
          <a:prstGeom prst="roundRect">
            <a:avLst/>
          </a:prstGeom>
          <a:solidFill>
            <a:srgbClr val="6B8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lus Jakarta Sans"/>
              </a:rPr>
              <a:t>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TECH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What Makes It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Curriculum Grounding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CurricuLLM ensures every generated scenario maps to real curriculum standards — no hallucinated assessments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745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Real-Time Traces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Firestore listeners push live reasoning data to teacher dashboards as students progress through scenarios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74520"/>
            <a:ext cx="32918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Adaptive Dialogue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Gemini-powered Socratic engine adjusts questioning depth based on student responses in real-time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PWA-First Mobile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Students access VN assessments on any device via Progressive Web App — no app store, no installation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9476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C85A32"/>
                </a:solidFill>
                <a:latin typeface="Plus Jakarta Sans"/>
              </a:rPr>
              <a:t>3 Core Endpoints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730"/>
                </a:solidFill>
                <a:latin typeface="Plus Jakarta Sans"/>
              </a:rPr>
              <a:t>Arc Setup (teacher upload + CurricuLLM), Narrative Generation (Gemini scenes), Dialogue (real-time student interaction)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09960" y="3794760"/>
            <a:ext cx="1280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85A32"/>
                </a:solidFill>
                <a:latin typeface="Plus Jakarta Sans"/>
              </a:rPr>
              <a:t>Docker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3A3730"/>
                </a:solidFill>
                <a:latin typeface="Plus Jakarta Sans"/>
              </a:rPr>
              <a:t>Containerised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85A32"/>
                </a:solidFill>
                <a:latin typeface="Plus Jakarta Sans"/>
              </a:rPr>
              <a:t>IMPACT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E1C18"/>
                </a:solidFill>
                <a:latin typeface="Plus Jakarta Sans"/>
              </a:rPr>
              <a:t>Redefining Assessment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0584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74520"/>
            <a:ext cx="2194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C85A32"/>
                </a:solidFill>
                <a:latin typeface="Plus Jakarta Sans"/>
              </a:rPr>
              <a:t>0%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55A"/>
                </a:solidFill>
                <a:latin typeface="Plus Jakarta Sans"/>
              </a:rPr>
              <a:t>Exam Anxiety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74520"/>
            <a:ext cx="21945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C85A32"/>
                </a:solidFill>
                <a:latin typeface="Plus Jakarta Sans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55A"/>
                </a:solidFill>
                <a:latin typeface="Plus Jakarta Sans"/>
              </a:rPr>
              <a:t>Reasoning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85A32"/>
                </a:solidFill>
                <a:latin typeface="Plus Jakarta Sans"/>
              </a:rPr>
              <a:t>WHAT CHANGES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Students assessed through engagement,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not pressure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Educators see thought processes,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not just grades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Curriculum alignment is automated,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not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85A32"/>
                </a:solidFill>
                <a:latin typeface="Plus Jakarta Sans"/>
              </a:rPr>
              <a:t>ROADMAP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7548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Multi-language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narrative support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LMS integration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(Moodle, Canvas, Blackboard)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Collaborative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multiplayer VN scenarios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Global curricula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beyond Australian standards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 b="1">
                <a:solidFill>
                  <a:srgbClr val="3A3730"/>
                </a:solidFill>
                <a:latin typeface="Plus Jakarta Sans"/>
              </a:rPr>
              <a:t>•  Voice interaction</a:t>
            </a:r>
            <a:r>
              <a:rPr sz="1400" b="0">
                <a:solidFill>
                  <a:srgbClr val="3A3730"/>
                </a:solidFill>
                <a:latin typeface="Plus Jakarta Sans"/>
              </a:rPr>
              <a:t> via Gemini TTS/STT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>
                <a:solidFill>
                  <a:srgbClr val="F4F1EA"/>
                </a:solidFill>
                <a:latin typeface="Plus Jakarta San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2148840"/>
            <a:ext cx="1554480" cy="63500"/>
          </a:xfrm>
          <a:prstGeom prst="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0">
                <a:solidFill>
                  <a:srgbClr val="C8C4BA"/>
                </a:solidFill>
                <a:latin typeface="Plus Jakarta Sans"/>
              </a:rPr>
              <a:t>Redefining assessment, one story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4F1EA"/>
                </a:solidFill>
                <a:latin typeface="Plus Jakarta Sans"/>
              </a:rPr>
              <a:t>Jordan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4A245"/>
                </a:solidFill>
                <a:latin typeface="Plus Jakarta Sans"/>
              </a:rPr>
              <a:t>Frontend + Narrative Arc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2918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4F1EA"/>
                </a:solidFill>
                <a:latin typeface="Plus Jakarta Sans"/>
              </a:rPr>
              <a:t>Liu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6576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4A245"/>
                </a:solidFill>
                <a:latin typeface="Plus Jakarta Sans"/>
              </a:rPr>
              <a:t>Backend +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2918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F4F1EA"/>
                </a:solidFill>
                <a:latin typeface="Plus Jakarta Sans"/>
              </a:rPr>
              <a:t>Adrian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6576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4A245"/>
                </a:solidFill>
                <a:latin typeface="Plus Jakarta Sans"/>
              </a:rPr>
              <a:t>Assets +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C8C4BA"/>
                </a:solidFill>
                <a:latin typeface="Plus Jakarta Sans"/>
              </a:rPr>
              <a:t>GitHub   github.com/SynAeri/IncubedHackathon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5212080"/>
            <a:ext cx="1371600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Next.js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212080"/>
            <a:ext cx="1042415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4415" y="5212080"/>
            <a:ext cx="1152144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Firebase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19" y="5212080"/>
            <a:ext cx="2029967" cy="320040"/>
          </a:xfrm>
          <a:prstGeom prst="roundRect">
            <a:avLst/>
          </a:prstGeom>
          <a:solidFill>
            <a:srgbClr val="C8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4F1EA"/>
                </a:solidFill>
                <a:latin typeface="Plus Jakarta Sans"/>
              </a:rPr>
              <a:t>Gemini 2.5 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6" y="5212080"/>
            <a:ext cx="1371600" cy="320040"/>
          </a:xfrm>
          <a:prstGeom prst="roundRect">
            <a:avLst/>
          </a:prstGeom>
          <a:solidFill>
            <a:srgbClr val="C4A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1E1C18"/>
                </a:solidFill>
                <a:latin typeface="Plus Jakarta Sans"/>
              </a:rPr>
              <a:t>CurricuLLM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